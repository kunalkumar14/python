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Cardo Bold" panose="020B0604020202020204" charset="-79"/>
      <p:regular r:id="rId13"/>
    </p:embeddedFont>
    <p:embeddedFont>
      <p:font typeface="Noto Serif" panose="02020600060500020200" pitchFamily="18" charset="0"/>
      <p:regular r:id="rId14"/>
      <p:bold r:id="rId15"/>
      <p:italic r:id="rId16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Listing rows</c:v>
          </c:tx>
          <c:spPr>
            <a:solidFill>
              <a:srgbClr val="683420"/>
            </a:solidFill>
          </c:spPr>
          <c:invertIfNegative val="0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650" b="1">
                    <a:solidFill>
                      <a:srgbClr val="68342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Other</c:v>
              </c:pt>
              <c:pt idx="1">
                <c:v>Office Products</c:v>
              </c:pt>
              <c:pt idx="2">
                <c:v>Home &amp; Kitchen</c:v>
              </c:pt>
              <c:pt idx="3">
                <c:v>Computers &amp; Accessories</c:v>
              </c:pt>
              <c:pt idx="4">
                <c:v>Electronics</c:v>
              </c:pt>
            </c:strLit>
          </c:cat>
          <c:val>
            <c:numLit>
              <c:formatCode>General</c:formatCode>
              <c:ptCount val="5"/>
              <c:pt idx="0">
                <c:v>7</c:v>
              </c:pt>
              <c:pt idx="1">
                <c:v>31</c:v>
              </c:pt>
              <c:pt idx="2">
                <c:v>448</c:v>
              </c:pt>
              <c:pt idx="3">
                <c:v>453</c:v>
              </c:pt>
              <c:pt idx="4">
                <c:v>526</c:v>
              </c:pt>
            </c:numLit>
          </c:val>
          <c:extLst>
            <c:ext xmlns:c16="http://schemas.microsoft.com/office/drawing/2014/chart" uri="{C3380CC4-5D6E-409C-BE32-E72D297353CC}">
              <c16:uniqueId val="{00000000-3830-4B98-8D26-6AEB5053BE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D3D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BDBDBD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83420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83420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amazon.csv and AMAZON DATA PROJECT.ipynb. Product listing and customer review fields only; no transaction or employee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amazon.csv. 1,465 rows, 16 fields, 1,351 distinct product IDs. Project objective: describe catalog mix, listed discounts and feedback for business follow-up. No sales, margin, conversion, dates or workforce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amazon.csv. Fields include product ID, hierarchical category, listed price, discount, rating and review count. 211 detailed category strings are grouped to top-level categories. 114 repeated ID occurrences; zero exact duplicate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Exploratory analysis uses category frequencies, summary statistics (mean, median, range), rating and review distributions, and comparisons by category. Cleaning follows the supplied notebook: parse ₹ prices, percentages and counts; replace one malformed rating with 3.9; median-fill two missing review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Customer feedback summary: average rating 4.1/5; 75.8% rate at least 4.0. Review count median 5,179 and mean 18,278; a small number of heavily reviewed rows elevate the mean. Review volume is not sales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Category counts: Electronics 526; Computers &amp; Accessories 453; Home &amp; Kitchen 448; Office Products 31; Other 7. First three make up 1,427/1,465 rows = 97.4%. Chart values are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Mean listed discount 47.7%; median 50%; 47% of rows above 50%. Category averages: Computers &amp; Accessories 54.0%, Electronics 50.8%, Home &amp; Kitchen 40.1%, Office Products 12.4%. Listed discount does not establish sales lift or profit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Business recommendations are hypotheses. The files contain no sales, margin, orders or dates. HR must validate team ownership, skills and workload with company records before recommending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Workplan: join listings to SKU/date transactions, inventory and returns; link service demand; add team-level workforce measures; then pilot a category change against a baseline. Expand only if business results improve without harming service or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amazon.csv and AMAZON DATA PROJECT.ipynb. Converted prices, percentages and review counts; corrected one malformed rating; median-filled two missing counts; grouped detailed categories. Repeated IDs are not exact duplicate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13A4-EDD8-49DE-9FCB-EFEBF772D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92B08-C027-4D0B-AB78-8CF105FC0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1D32F-14DB-4387-842F-C390021DAD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7CCB4-1514-49B7-B48A-7042FC48B80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7FE98-66CF-4A9F-8B80-080E84C2A1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87E1-8E38-4BF4-8EEA-9F130198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29527-D476-4EC4-96F6-B0A86FB43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4A43D-0009-47CB-8C7C-1690A5A3FD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BA270-C790-4300-BC1F-88F39C8A81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870A1-B4D8-4500-82B9-F861F9BEB9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7C97-2F21-4692-9D31-764080EB4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DCA4B-A1C8-4C96-B593-78172A030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C36D2-C0DA-4EDA-93A2-5B8424CC127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C6AB1-5298-408F-85A3-B3449D157F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5E19E-A88F-4580-BCEC-B5A44D9AA4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9BD2C-FBE3-4925-BFEB-2D256666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B377A-8951-46B0-AA54-3CED565FB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F7A54-CBC0-4B8D-996C-CF5E4FA42A2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B791B-B158-424B-922F-E2FB8A3E12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10/15/2026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517A2-0820-4945-A9A8-7856A2EA76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0121E-62F0-400B-8A96-8D78113A96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761BD-F68C-41A6-921A-3278B5D2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EE78B-191F-4758-9876-7D11ED769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F777A-F83B-4B69-B165-678BA19E13C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CEF363-5265-4293-89C5-165F45CCAB7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4263F-5457-4C7B-8165-A8C9E32763C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AC704-2BD5-48EA-9E0E-AD3D98CAD3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10/15/2026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41224-FF2E-4237-BF3D-B44802A3A9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7B3489-CC31-47C8-B2A4-A0D1C9D9B3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1A09-FE44-4B9E-A9F1-CFAC474F5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1B51F5-9235-4436-B915-8100C630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10/15/2026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2C3AF-B034-47F2-AA1F-A28601B377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64CCC-A7E2-4FBB-B4F5-BF7688C10F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2B0102-9A57-4557-B44E-2AC5E159DF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10/15/2026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4368F-BD78-495C-9BB4-AB0DD532DA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8F828-9F52-4700-B13B-F493A485F8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38C08-86F4-468C-916D-1847A834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99993-5685-4C27-AB17-934D1B1BE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74921-17EC-49CA-8A9B-9DE19E9C1AD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12B40-BD7A-43C3-9A25-0835B859CF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10/15/2026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F452C-2ADD-4F29-BE52-85E5BA7CF9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56F4B-D67E-40E1-8D83-D563BE1F74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2925-DABD-4D6B-AEA8-C92CB3699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AAC3D7-5376-40FB-ADF8-87B2ACD72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B7ECE-BC3E-4B74-B66A-A0B658CC22E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2C88B-25F8-448A-AD58-92FBE6A3B9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10/15/2026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FD36E-A4C6-4F0D-8183-1054B5DB38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580EB-0ADA-4F53-A1B6-FB319615AF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A03E-6380-4BA7-834F-DF53FEB05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D7C9D-D2E9-453B-8DE7-4353988CE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D31F1-6786-4E2D-8091-DCECB82E1B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8CB07-5FCC-4A56-A089-D24082C94A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782AD-6813-450E-AA76-5B6871C774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9C1B6D-883B-453E-A9BF-9F5BA5062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206795-4F06-45BF-A77C-B2F6BBBFD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44EAC-C925-4872-A61D-E3F3276CF2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10/15/2026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D313E-8D2C-47BA-8F83-667367BFB2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EA68E-D307-4B1F-A376-CB6F3CC4B3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5975DE-EFE8-46BE-A097-4999FCD4C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A8E06-ADC5-4F3E-9633-8B20A2BBE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7649C-F22A-49A4-BBA5-EDDF11891A1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10/15/2026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93E34-A508-4922-BB22-A65CBD2BBDE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32AE8-2FB7-4FF3-9EBB-C9DEB235E0D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BD8E25-31B9-47FB-AD52-CD983BC229ED}"/>
              </a:ext>
            </a:extLst>
          </p:cNvPr>
          <p:cNvSpPr>
            <a:spLocks noGrp="1"/>
          </p:cNvSpPr>
          <p:nvPr/>
        </p:nvSpPr>
        <p:spPr>
          <a:xfrm flipH="1">
            <a:off x="8708319" y="6988823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9791323" y="0"/>
                </a:moveTo>
                <a:lnTo>
                  <a:pt x="0" y="0"/>
                </a:lnTo>
                <a:lnTo>
                  <a:pt x="0" y="3622789"/>
                </a:lnTo>
                <a:lnTo>
                  <a:pt x="9791323" y="3622789"/>
                </a:lnTo>
                <a:lnTo>
                  <a:pt x="97913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C130666-4E25-4DA5-8589-378B8DB6A5C4}"/>
              </a:ext>
            </a:extLst>
          </p:cNvPr>
          <p:cNvSpPr>
            <a:spLocks noGrp="1"/>
          </p:cNvSpPr>
          <p:nvPr/>
        </p:nvSpPr>
        <p:spPr>
          <a:xfrm flipV="1">
            <a:off x="-150387" y="-322078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0" y="3622789"/>
                </a:moveTo>
                <a:lnTo>
                  <a:pt x="9791322" y="3622789"/>
                </a:lnTo>
                <a:lnTo>
                  <a:pt x="9791322" y="0"/>
                </a:lnTo>
                <a:lnTo>
                  <a:pt x="0" y="0"/>
                </a:lnTo>
                <a:lnTo>
                  <a:pt x="0" y="36227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B6991ED-AE54-480A-B331-0D379606886F}"/>
              </a:ext>
            </a:extLst>
          </p:cNvPr>
          <p:cNvSpPr>
            <a:spLocks noGrp="1"/>
          </p:cNvSpPr>
          <p:nvPr/>
        </p:nvSpPr>
        <p:spPr>
          <a:xfrm>
            <a:off x="2735955" y="2583770"/>
            <a:ext cx="2009320" cy="1004660"/>
          </a:xfrm>
          <a:custGeom>
            <a:avLst/>
            <a:gdLst/>
            <a:ahLst/>
            <a:cxnLst/>
            <a:rect l="l" t="t" r="r" b="b"/>
            <a:pathLst>
              <a:path w="2009320" h="1004660">
                <a:moveTo>
                  <a:pt x="0" y="0"/>
                </a:moveTo>
                <a:lnTo>
                  <a:pt x="2009319" y="0"/>
                </a:lnTo>
                <a:lnTo>
                  <a:pt x="2009319" y="1004660"/>
                </a:lnTo>
                <a:lnTo>
                  <a:pt x="0" y="1004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71E89BF-4AC7-4671-8F99-FE44358E846D}"/>
              </a:ext>
            </a:extLst>
          </p:cNvPr>
          <p:cNvSpPr>
            <a:spLocks noGrp="1"/>
          </p:cNvSpPr>
          <p:nvPr/>
        </p:nvSpPr>
        <p:spPr>
          <a:xfrm>
            <a:off x="5179983" y="2803968"/>
            <a:ext cx="1912760" cy="564264"/>
          </a:xfrm>
          <a:custGeom>
            <a:avLst/>
            <a:gdLst/>
            <a:ahLst/>
            <a:cxnLst/>
            <a:rect l="l" t="t" r="r" b="b"/>
            <a:pathLst>
              <a:path w="1912760" h="564264">
                <a:moveTo>
                  <a:pt x="0" y="0"/>
                </a:moveTo>
                <a:lnTo>
                  <a:pt x="1912759" y="0"/>
                </a:lnTo>
                <a:lnTo>
                  <a:pt x="1912759" y="564264"/>
                </a:lnTo>
                <a:lnTo>
                  <a:pt x="0" y="56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B909345-54DF-445A-8AE4-E1EDE137D0B3}"/>
              </a:ext>
            </a:extLst>
          </p:cNvPr>
          <p:cNvSpPr>
            <a:spLocks noGrp="1"/>
          </p:cNvSpPr>
          <p:nvPr/>
        </p:nvSpPr>
        <p:spPr>
          <a:xfrm>
            <a:off x="10079085" y="2543912"/>
            <a:ext cx="5246370" cy="1084376"/>
          </a:xfrm>
          <a:custGeom>
            <a:avLst/>
            <a:gdLst/>
            <a:ahLst/>
            <a:cxnLst/>
            <a:rect l="l" t="t" r="r" b="b"/>
            <a:pathLst>
              <a:path w="812800" h="167998">
                <a:moveTo>
                  <a:pt x="83999" y="0"/>
                </a:moveTo>
                <a:lnTo>
                  <a:pt x="728801" y="0"/>
                </a:lnTo>
                <a:cubicBezTo>
                  <a:pt x="751079" y="0"/>
                  <a:pt x="772444" y="8850"/>
                  <a:pt x="788197" y="24603"/>
                </a:cubicBezTo>
                <a:cubicBezTo>
                  <a:pt x="803950" y="40356"/>
                  <a:pt x="812800" y="61721"/>
                  <a:pt x="812800" y="83999"/>
                </a:cubicBezTo>
                <a:lnTo>
                  <a:pt x="812800" y="83999"/>
                </a:lnTo>
                <a:cubicBezTo>
                  <a:pt x="812800" y="130391"/>
                  <a:pt x="775192" y="167998"/>
                  <a:pt x="728801" y="167998"/>
                </a:cubicBezTo>
                <a:lnTo>
                  <a:pt x="83999" y="167998"/>
                </a:lnTo>
                <a:cubicBezTo>
                  <a:pt x="61721" y="167998"/>
                  <a:pt x="40356" y="159148"/>
                  <a:pt x="24603" y="143395"/>
                </a:cubicBezTo>
                <a:cubicBezTo>
                  <a:pt x="8850" y="127643"/>
                  <a:pt x="0" y="106277"/>
                  <a:pt x="0" y="83999"/>
                </a:cubicBezTo>
                <a:lnTo>
                  <a:pt x="0" y="83999"/>
                </a:lnTo>
                <a:cubicBezTo>
                  <a:pt x="0" y="61721"/>
                  <a:pt x="8850" y="40356"/>
                  <a:pt x="24603" y="24603"/>
                </a:cubicBezTo>
                <a:cubicBezTo>
                  <a:pt x="40356" y="8850"/>
                  <a:pt x="61721" y="0"/>
                  <a:pt x="83999" y="0"/>
                </a:cubicBezTo>
                <a:close/>
              </a:path>
            </a:pathLst>
          </a:custGeom>
          <a:blipFill>
            <a:blip r:embed="rId6"/>
            <a:stretch>
              <a:fillRect t="-110868" b="-110868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70396E7-6C00-43E1-AA70-63ABEB8A9320}"/>
              </a:ext>
            </a:extLst>
          </p:cNvPr>
          <p:cNvSpPr>
            <a:spLocks noGrp="1"/>
          </p:cNvSpPr>
          <p:nvPr/>
        </p:nvSpPr>
        <p:spPr>
          <a:xfrm>
            <a:off x="12054893" y="6897711"/>
            <a:ext cx="1294756" cy="1294756"/>
          </a:xfrm>
          <a:custGeom>
            <a:avLst/>
            <a:gdLst/>
            <a:ahLst/>
            <a:cxnLst/>
            <a:rect l="l" t="t" r="r" b="b"/>
            <a:pathLst>
              <a:path w="1294756" h="1294756">
                <a:moveTo>
                  <a:pt x="0" y="0"/>
                </a:moveTo>
                <a:lnTo>
                  <a:pt x="1294755" y="0"/>
                </a:lnTo>
                <a:lnTo>
                  <a:pt x="1294755" y="1294756"/>
                </a:lnTo>
                <a:lnTo>
                  <a:pt x="0" y="1294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BF33488-42A2-4D5D-B66A-24A85082533B}"/>
              </a:ext>
            </a:extLst>
          </p:cNvPr>
          <p:cNvSpPr>
            <a:spLocks noGrp="1"/>
          </p:cNvSpPr>
          <p:nvPr/>
        </p:nvSpPr>
        <p:spPr>
          <a:xfrm>
            <a:off x="1028700" y="3691236"/>
            <a:ext cx="16230600" cy="270738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1318"/>
              </a:lnSpc>
              <a:buNone/>
            </a:pPr>
            <a:r>
              <a:rPr sz="15227" b="1">
                <a:solidFill>
                  <a:srgbClr val="683420"/>
                </a:solidFill>
                <a:latin typeface="Cardo Bold"/>
                <a:ea typeface="Cardo Bold"/>
                <a:cs typeface="Cardo Bold"/>
              </a:rPr>
              <a:t>Amazon Data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B95380B-51A2-4710-960F-532590019352}"/>
              </a:ext>
            </a:extLst>
          </p:cNvPr>
          <p:cNvSpPr>
            <a:spLocks noGrp="1"/>
          </p:cNvSpPr>
          <p:nvPr/>
        </p:nvSpPr>
        <p:spPr>
          <a:xfrm>
            <a:off x="2735955" y="6652914"/>
            <a:ext cx="6162538" cy="89768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>
              <a:defRPr sz="2025"/>
            </a:defPPr>
          </a:lstStyle>
          <a:p>
            <a:pPr algn="l">
              <a:lnSpc>
                <a:spcPts val="3499"/>
              </a:lnSpc>
              <a:buNone/>
              <a:defRPr sz="2025"/>
            </a:pPr>
            <a:r>
              <a:rPr sz="3200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Product data for business decisions | HR perspective |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4EA9FF-3032-FF19-AAB5-ACD79198C258}"/>
              </a:ext>
            </a:extLst>
          </p:cNvPr>
          <p:cNvSpPr>
            <a:spLocks noGrp="1"/>
          </p:cNvSpPr>
          <p:nvPr/>
        </p:nvSpPr>
        <p:spPr>
          <a:xfrm>
            <a:off x="2551471" y="9369725"/>
            <a:ext cx="93209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1,465 rows • 16 fields • India pricing (₹)</a:t>
            </a:r>
            <a:endParaRPr sz="3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95289E-1B1B-6EBB-B028-C698036DD57F}"/>
              </a:ext>
            </a:extLst>
          </p:cNvPr>
          <p:cNvSpPr>
            <a:spLocks noGrp="1"/>
          </p:cNvSpPr>
          <p:nvPr/>
        </p:nvSpPr>
        <p:spPr>
          <a:xfrm>
            <a:off x="10633587" y="8672052"/>
            <a:ext cx="75364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|</a:t>
            </a:r>
            <a:r>
              <a:rPr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 </a:t>
            </a:r>
            <a:r>
              <a:rPr sz="4000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Presented by Kunal Kumar |</a:t>
            </a:r>
            <a:endParaRPr sz="4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9FF10D-B0FB-A4EB-8645-F7583C5BE095}"/>
              </a:ext>
            </a:extLst>
          </p:cNvPr>
          <p:cNvSpPr>
            <a:spLocks noGrp="1"/>
          </p:cNvSpPr>
          <p:nvPr/>
        </p:nvSpPr>
        <p:spPr>
          <a:xfrm>
            <a:off x="2920180" y="1272429"/>
            <a:ext cx="6371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03015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AED97A-102C-4A0F-A0DC-2DC79087B401}"/>
              </a:ext>
            </a:extLst>
          </p:cNvPr>
          <p:cNvSpPr>
            <a:spLocks noGrp="1"/>
          </p:cNvSpPr>
          <p:nvPr/>
        </p:nvSpPr>
        <p:spPr>
          <a:xfrm flipH="1">
            <a:off x="8723611" y="6971871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9791323" y="0"/>
                </a:moveTo>
                <a:lnTo>
                  <a:pt x="0" y="0"/>
                </a:lnTo>
                <a:lnTo>
                  <a:pt x="0" y="3622790"/>
                </a:lnTo>
                <a:lnTo>
                  <a:pt x="9791323" y="3622790"/>
                </a:lnTo>
                <a:lnTo>
                  <a:pt x="97913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FC80035-A977-4085-8F9B-E89284A7E6A1}"/>
              </a:ext>
            </a:extLst>
          </p:cNvPr>
          <p:cNvSpPr>
            <a:spLocks noGrp="1"/>
          </p:cNvSpPr>
          <p:nvPr/>
        </p:nvSpPr>
        <p:spPr>
          <a:xfrm>
            <a:off x="-226934" y="6971871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0" y="0"/>
                </a:moveTo>
                <a:lnTo>
                  <a:pt x="9791323" y="0"/>
                </a:lnTo>
                <a:lnTo>
                  <a:pt x="9791323" y="3622790"/>
                </a:lnTo>
                <a:lnTo>
                  <a:pt x="0" y="3622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D76652D-E0CA-4BF0-B5AD-B785F664110F}"/>
              </a:ext>
            </a:extLst>
          </p:cNvPr>
          <p:cNvSpPr>
            <a:spLocks noGrp="1"/>
          </p:cNvSpPr>
          <p:nvPr/>
        </p:nvSpPr>
        <p:spPr>
          <a:xfrm>
            <a:off x="14673081" y="2238540"/>
            <a:ext cx="1294756" cy="1294756"/>
          </a:xfrm>
          <a:custGeom>
            <a:avLst/>
            <a:gdLst/>
            <a:ahLst/>
            <a:cxnLst/>
            <a:rect l="l" t="t" r="r" b="b"/>
            <a:pathLst>
              <a:path w="1294756" h="1294756">
                <a:moveTo>
                  <a:pt x="0" y="0"/>
                </a:moveTo>
                <a:lnTo>
                  <a:pt x="1294755" y="0"/>
                </a:lnTo>
                <a:lnTo>
                  <a:pt x="1294755" y="1294755"/>
                </a:lnTo>
                <a:lnTo>
                  <a:pt x="0" y="1294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EAFA27C-CB38-44A7-9B4A-6B4408A9606F}"/>
              </a:ext>
            </a:extLst>
          </p:cNvPr>
          <p:cNvSpPr>
            <a:spLocks noGrp="1"/>
          </p:cNvSpPr>
          <p:nvPr/>
        </p:nvSpPr>
        <p:spPr>
          <a:xfrm>
            <a:off x="2073475" y="2238540"/>
            <a:ext cx="2009320" cy="1004660"/>
          </a:xfrm>
          <a:custGeom>
            <a:avLst/>
            <a:gdLst/>
            <a:ahLst/>
            <a:cxnLst/>
            <a:rect l="l" t="t" r="r" b="b"/>
            <a:pathLst>
              <a:path w="2009320" h="1004660">
                <a:moveTo>
                  <a:pt x="0" y="0"/>
                </a:moveTo>
                <a:lnTo>
                  <a:pt x="2009320" y="0"/>
                </a:lnTo>
                <a:lnTo>
                  <a:pt x="2009320" y="1004660"/>
                </a:lnTo>
                <a:lnTo>
                  <a:pt x="0" y="1004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F52803E-A70E-46EE-8BDD-1C329B5402BD}"/>
              </a:ext>
            </a:extLst>
          </p:cNvPr>
          <p:cNvSpPr>
            <a:spLocks noGrp="1"/>
          </p:cNvSpPr>
          <p:nvPr/>
        </p:nvSpPr>
        <p:spPr>
          <a:xfrm>
            <a:off x="2170035" y="4107447"/>
            <a:ext cx="1912760" cy="564264"/>
          </a:xfrm>
          <a:custGeom>
            <a:avLst/>
            <a:gdLst/>
            <a:ahLst/>
            <a:cxnLst/>
            <a:rect l="l" t="t" r="r" b="b"/>
            <a:pathLst>
              <a:path w="1912760" h="564264">
                <a:moveTo>
                  <a:pt x="0" y="0"/>
                </a:moveTo>
                <a:lnTo>
                  <a:pt x="1912760" y="0"/>
                </a:lnTo>
                <a:lnTo>
                  <a:pt x="1912760" y="564264"/>
                </a:lnTo>
                <a:lnTo>
                  <a:pt x="0" y="56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B7F09-E08C-6E0B-AB54-7F2C838FEA4A}"/>
              </a:ext>
            </a:extLst>
          </p:cNvPr>
          <p:cNvSpPr>
            <a:spLocks noGrp="1"/>
          </p:cNvSpPr>
          <p:nvPr/>
        </p:nvSpPr>
        <p:spPr>
          <a:xfrm>
            <a:off x="4476750" y="1809750"/>
            <a:ext cx="1028700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algn="ctr">
              <a:defRPr sz="4650" b="1">
                <a:solidFill>
                  <a:srgbClr val="683420"/>
                </a:solidFill>
                <a:latin typeface="Cardo"/>
                <a:ea typeface="Cardo"/>
                <a:cs typeface="Cardo"/>
              </a:defRPr>
            </a:defPPr>
          </a:lstStyle>
          <a:p>
            <a:pPr algn="ctr">
              <a:buNone/>
              <a:defRPr sz="4650" b="1">
                <a:solidFill>
                  <a:srgbClr val="683420"/>
                </a:solidFill>
                <a:latin typeface="Cardo"/>
                <a:ea typeface="Cardo"/>
                <a:cs typeface="Cardo"/>
              </a:defRPr>
            </a:pPr>
            <a:r>
              <a:rPr sz="4650" b="1">
                <a:solidFill>
                  <a:srgbClr val="683420"/>
                </a:solidFill>
                <a:latin typeface="Cardo"/>
                <a:ea typeface="Cardo"/>
                <a:cs typeface="Cardo"/>
              </a:rPr>
              <a:t>What data helps the analysis?</a:t>
            </a:r>
            <a:endParaRPr sz="5400" b="1">
              <a:solidFill>
                <a:srgbClr val="102333"/>
              </a:solidFill>
            </a:endParaRPr>
          </a:p>
        </p:txBody>
      </p:sp>
      <p:sp>
        <p:nvSpPr>
          <p:cNvPr id="10" name="Student project business use">
            <a:extLst>
              <a:ext uri="{FF2B5EF4-FFF2-40B4-BE49-F238E27FC236}">
                <a16:creationId xmlns:a16="http://schemas.microsoft.com/office/drawing/2014/main" id="{CA42709A-93D2-42A7-BEBB-203156F0E621}"/>
              </a:ext>
            </a:extLst>
          </p:cNvPr>
          <p:cNvSpPr>
            <a:spLocks noGrp="1"/>
          </p:cNvSpPr>
          <p:nvPr/>
        </p:nvSpPr>
        <p:spPr>
          <a:xfrm>
            <a:off x="2238375" y="89535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9A6A51"/>
                </a:solidFill>
                <a:latin typeface="Noto Serif"/>
                <a:ea typeface="Noto Serif"/>
                <a:cs typeface="Noto Serif"/>
              </a:defRPr>
            </a:defPPr>
          </a:lstStyle>
          <a:p>
            <a:pPr algn="l">
              <a:defRPr sz="1650" b="1">
                <a:solidFill>
                  <a:srgbClr val="9A6A51"/>
                </a:solidFill>
                <a:latin typeface="Noto Serif"/>
                <a:ea typeface="Noto Serif"/>
                <a:cs typeface="Noto Serif"/>
              </a:defRPr>
            </a:pPr>
            <a:r>
              <a:rPr sz="1650" b="1">
                <a:solidFill>
                  <a:srgbClr val="9A6A51"/>
                </a:solidFill>
                <a:latin typeface="Noto Serif"/>
                <a:ea typeface="Noto Serif"/>
                <a:cs typeface="Noto Serif"/>
              </a:rPr>
              <a:t>STUDENT PROJECT | BUSINESS USE</a:t>
            </a:r>
          </a:p>
        </p:txBody>
      </p:sp>
      <p:sp>
        <p:nvSpPr>
          <p:cNvPr id="11" name="Dataset coverage">
            <a:extLst>
              <a:ext uri="{FF2B5EF4-FFF2-40B4-BE49-F238E27FC236}">
                <a16:creationId xmlns:a16="http://schemas.microsoft.com/office/drawing/2014/main" id="{5A4D5DBA-84D4-4EC4-B894-49E491597916}"/>
              </a:ext>
            </a:extLst>
          </p:cNvPr>
          <p:cNvSpPr>
            <a:spLocks noGrp="1"/>
          </p:cNvSpPr>
          <p:nvPr/>
        </p:nvSpPr>
        <p:spPr>
          <a:xfrm>
            <a:off x="4667250" y="3314700"/>
            <a:ext cx="1104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250" b="1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defPPr>
          </a:lstStyle>
          <a:p>
            <a:pPr algn="l">
              <a:defRPr sz="2250" b="1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pPr>
            <a:r>
              <a:rPr sz="2250" b="1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1,465 listing rows  •  1,351 distinct product IDs</a:t>
            </a:r>
          </a:p>
        </p:txBody>
      </p:sp>
      <p:sp>
        <p:nvSpPr>
          <p:cNvPr id="12" name="Field heading">
            <a:extLst>
              <a:ext uri="{FF2B5EF4-FFF2-40B4-BE49-F238E27FC236}">
                <a16:creationId xmlns:a16="http://schemas.microsoft.com/office/drawing/2014/main" id="{70359148-E437-4041-B72C-049BF087BF9E}"/>
              </a:ext>
            </a:extLst>
          </p:cNvPr>
          <p:cNvSpPr>
            <a:spLocks noGrp="1"/>
          </p:cNvSpPr>
          <p:nvPr/>
        </p:nvSpPr>
        <p:spPr>
          <a:xfrm>
            <a:off x="4667250" y="405765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9A6A51"/>
                </a:solidFill>
                <a:latin typeface="Noto Serif"/>
                <a:ea typeface="Noto Serif"/>
                <a:cs typeface="Noto Serif"/>
              </a:defRPr>
            </a:defPPr>
          </a:lstStyle>
          <a:p>
            <a:pPr algn="l">
              <a:defRPr sz="1575" b="1">
                <a:solidFill>
                  <a:srgbClr val="9A6A51"/>
                </a:solidFill>
                <a:latin typeface="Noto Serif"/>
                <a:ea typeface="Noto Serif"/>
                <a:cs typeface="Noto Serif"/>
              </a:defRPr>
            </a:pPr>
            <a:r>
              <a:rPr sz="1575" b="1">
                <a:solidFill>
                  <a:srgbClr val="9A6A51"/>
                </a:solidFill>
                <a:latin typeface="Noto Serif"/>
                <a:ea typeface="Noto Serif"/>
                <a:cs typeface="Noto Serif"/>
              </a:rPr>
              <a:t>DATA FIELD</a:t>
            </a:r>
          </a:p>
        </p:txBody>
      </p:sp>
      <p:sp>
        <p:nvSpPr>
          <p:cNvPr id="13" name="Purpose heading">
            <a:extLst>
              <a:ext uri="{FF2B5EF4-FFF2-40B4-BE49-F238E27FC236}">
                <a16:creationId xmlns:a16="http://schemas.microsoft.com/office/drawing/2014/main" id="{6DFA1AE2-D9A2-4748-B913-E0506B476CE1}"/>
              </a:ext>
            </a:extLst>
          </p:cNvPr>
          <p:cNvSpPr>
            <a:spLocks noGrp="1"/>
          </p:cNvSpPr>
          <p:nvPr/>
        </p:nvSpPr>
        <p:spPr>
          <a:xfrm>
            <a:off x="9525000" y="40576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9A6A51"/>
                </a:solidFill>
                <a:latin typeface="Noto Serif"/>
                <a:ea typeface="Noto Serif"/>
                <a:cs typeface="Noto Serif"/>
              </a:defRPr>
            </a:defPPr>
          </a:lstStyle>
          <a:p>
            <a:pPr algn="l">
              <a:defRPr sz="1575" b="1">
                <a:solidFill>
                  <a:srgbClr val="9A6A51"/>
                </a:solidFill>
                <a:latin typeface="Noto Serif"/>
                <a:ea typeface="Noto Serif"/>
                <a:cs typeface="Noto Serif"/>
              </a:defRPr>
            </a:pPr>
            <a:r>
              <a:rPr sz="1575" b="1">
                <a:solidFill>
                  <a:srgbClr val="9A6A51"/>
                </a:solidFill>
                <a:latin typeface="Noto Serif"/>
                <a:ea typeface="Noto Serif"/>
                <a:cs typeface="Noto Serif"/>
              </a:rPr>
              <a:t>HOW IT HELPS</a:t>
            </a:r>
          </a:p>
        </p:txBody>
      </p:sp>
      <p:sp>
        <p:nvSpPr>
          <p:cNvPr id="14" name="Data field 1">
            <a:extLst>
              <a:ext uri="{FF2B5EF4-FFF2-40B4-BE49-F238E27FC236}">
                <a16:creationId xmlns:a16="http://schemas.microsoft.com/office/drawing/2014/main" id="{B7F0E6E6-64BE-4C88-A80B-16BAA88E3365}"/>
              </a:ext>
            </a:extLst>
          </p:cNvPr>
          <p:cNvSpPr>
            <a:spLocks noGrp="1"/>
          </p:cNvSpPr>
          <p:nvPr/>
        </p:nvSpPr>
        <p:spPr>
          <a:xfrm>
            <a:off x="4667250" y="4619625"/>
            <a:ext cx="419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defPPr>
          </a:lstStyle>
          <a:p>
            <a:pPr algn="l">
              <a:defRPr sz="1875" b="1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pPr>
            <a:r>
              <a:rPr sz="1875" b="1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Category and product ID</a:t>
            </a:r>
          </a:p>
        </p:txBody>
      </p:sp>
      <p:sp>
        <p:nvSpPr>
          <p:cNvPr id="15" name="Field use 1">
            <a:extLst>
              <a:ext uri="{FF2B5EF4-FFF2-40B4-BE49-F238E27FC236}">
                <a16:creationId xmlns:a16="http://schemas.microsoft.com/office/drawing/2014/main" id="{103F15CE-D742-4A1E-8931-9502D61BCA22}"/>
              </a:ext>
            </a:extLst>
          </p:cNvPr>
          <p:cNvSpPr>
            <a:spLocks noGrp="1"/>
          </p:cNvSpPr>
          <p:nvPr/>
        </p:nvSpPr>
        <p:spPr>
          <a:xfrm>
            <a:off x="9525000" y="4619625"/>
            <a:ext cx="619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0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defPPr>
          </a:lstStyle>
          <a:p>
            <a:pPr algn="l">
              <a:defRPr sz="1875" b="0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pPr>
            <a:r>
              <a:rPr sz="1875" b="0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Compare catalog mix and find categories for deeper review.</a:t>
            </a:r>
          </a:p>
        </p:txBody>
      </p:sp>
      <p:sp>
        <p:nvSpPr>
          <p:cNvPr id="16" name="row divider 1">
            <a:extLst>
              <a:ext uri="{FF2B5EF4-FFF2-40B4-BE49-F238E27FC236}">
                <a16:creationId xmlns:a16="http://schemas.microsoft.com/office/drawing/2014/main" id="{865A0CC9-447E-4F91-9276-F98ADABF0C98}"/>
              </a:ext>
            </a:extLst>
          </p:cNvPr>
          <p:cNvSpPr>
            <a:spLocks noGrp="1"/>
          </p:cNvSpPr>
          <p:nvPr/>
        </p:nvSpPr>
        <p:spPr>
          <a:xfrm>
            <a:off x="4667250" y="5457825"/>
            <a:ext cx="11049000" cy="19050"/>
          </a:xfrm>
          <a:prstGeom prst="rect">
            <a:avLst/>
          </a:prstGeom>
          <a:solidFill>
            <a:srgbClr val="D8D2CE"/>
          </a:solidFill>
          <a:ln w="0">
            <a:noFill/>
            <a:prstDash val="solid"/>
          </a:ln>
        </p:spPr>
      </p:sp>
      <p:sp>
        <p:nvSpPr>
          <p:cNvPr id="17" name="Data field 2">
            <a:extLst>
              <a:ext uri="{FF2B5EF4-FFF2-40B4-BE49-F238E27FC236}">
                <a16:creationId xmlns:a16="http://schemas.microsoft.com/office/drawing/2014/main" id="{5FD7F7F2-920F-4097-AAF3-AF511908B7D5}"/>
              </a:ext>
            </a:extLst>
          </p:cNvPr>
          <p:cNvSpPr>
            <a:spLocks noGrp="1"/>
          </p:cNvSpPr>
          <p:nvPr/>
        </p:nvSpPr>
        <p:spPr>
          <a:xfrm>
            <a:off x="4667250" y="5619750"/>
            <a:ext cx="419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defPPr>
          </a:lstStyle>
          <a:p>
            <a:pPr algn="l">
              <a:defRPr sz="1875" b="1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pPr>
            <a:r>
              <a:rPr sz="1875" b="1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Actual price, discounted price and discount</a:t>
            </a:r>
          </a:p>
        </p:txBody>
      </p:sp>
      <p:sp>
        <p:nvSpPr>
          <p:cNvPr id="18" name="Field use 2">
            <a:extLst>
              <a:ext uri="{FF2B5EF4-FFF2-40B4-BE49-F238E27FC236}">
                <a16:creationId xmlns:a16="http://schemas.microsoft.com/office/drawing/2014/main" id="{96F3B8BD-06BF-460A-8109-F62D564159A7}"/>
              </a:ext>
            </a:extLst>
          </p:cNvPr>
          <p:cNvSpPr>
            <a:spLocks noGrp="1"/>
          </p:cNvSpPr>
          <p:nvPr/>
        </p:nvSpPr>
        <p:spPr>
          <a:xfrm>
            <a:off x="9525000" y="5619750"/>
            <a:ext cx="619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0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defPPr>
          </a:lstStyle>
          <a:p>
            <a:pPr algn="l">
              <a:defRPr sz="1875" b="0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pPr>
            <a:r>
              <a:rPr sz="1875" b="0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Describe pricing patterns and compare discount levels.</a:t>
            </a:r>
          </a:p>
        </p:txBody>
      </p:sp>
      <p:sp>
        <p:nvSpPr>
          <p:cNvPr id="19" name="row divider 2">
            <a:extLst>
              <a:ext uri="{FF2B5EF4-FFF2-40B4-BE49-F238E27FC236}">
                <a16:creationId xmlns:a16="http://schemas.microsoft.com/office/drawing/2014/main" id="{1C72D70E-E163-4F1F-8683-7528B24758E6}"/>
              </a:ext>
            </a:extLst>
          </p:cNvPr>
          <p:cNvSpPr>
            <a:spLocks noGrp="1"/>
          </p:cNvSpPr>
          <p:nvPr/>
        </p:nvSpPr>
        <p:spPr>
          <a:xfrm>
            <a:off x="4667250" y="6457950"/>
            <a:ext cx="11049000" cy="19050"/>
          </a:xfrm>
          <a:prstGeom prst="rect">
            <a:avLst/>
          </a:prstGeom>
          <a:solidFill>
            <a:srgbClr val="D8D2CE"/>
          </a:solidFill>
          <a:ln w="0">
            <a:noFill/>
            <a:prstDash val="solid"/>
          </a:ln>
        </p:spPr>
      </p:sp>
      <p:sp>
        <p:nvSpPr>
          <p:cNvPr id="20" name="Data field 3">
            <a:extLst>
              <a:ext uri="{FF2B5EF4-FFF2-40B4-BE49-F238E27FC236}">
                <a16:creationId xmlns:a16="http://schemas.microsoft.com/office/drawing/2014/main" id="{95D4D5A5-7A6A-40F7-BDB3-0C6B439B0FE9}"/>
              </a:ext>
            </a:extLst>
          </p:cNvPr>
          <p:cNvSpPr>
            <a:spLocks noGrp="1"/>
          </p:cNvSpPr>
          <p:nvPr/>
        </p:nvSpPr>
        <p:spPr>
          <a:xfrm>
            <a:off x="4667250" y="6619875"/>
            <a:ext cx="419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1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defPPr>
          </a:lstStyle>
          <a:p>
            <a:pPr algn="l">
              <a:defRPr sz="1875" b="1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pPr>
            <a:r>
              <a:rPr sz="1875" b="1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Product rating and review count</a:t>
            </a:r>
          </a:p>
        </p:txBody>
      </p:sp>
      <p:sp>
        <p:nvSpPr>
          <p:cNvPr id="21" name="Field use 3">
            <a:extLst>
              <a:ext uri="{FF2B5EF4-FFF2-40B4-BE49-F238E27FC236}">
                <a16:creationId xmlns:a16="http://schemas.microsoft.com/office/drawing/2014/main" id="{684225D0-3613-41C9-BF32-FAAD86B1BE33}"/>
              </a:ext>
            </a:extLst>
          </p:cNvPr>
          <p:cNvSpPr>
            <a:spLocks noGrp="1"/>
          </p:cNvSpPr>
          <p:nvPr/>
        </p:nvSpPr>
        <p:spPr>
          <a:xfrm>
            <a:off x="9525000" y="6619875"/>
            <a:ext cx="619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75" b="0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defPPr>
          </a:lstStyle>
          <a:p>
            <a:pPr algn="l">
              <a:defRPr sz="1875" b="0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pPr>
            <a:r>
              <a:rPr sz="1875" b="0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Summarize customer feedback and flag listings for follow-up.</a:t>
            </a:r>
          </a:p>
        </p:txBody>
      </p:sp>
      <p:sp>
        <p:nvSpPr>
          <p:cNvPr id="22" name="Business value callout">
            <a:extLst>
              <a:ext uri="{FF2B5EF4-FFF2-40B4-BE49-F238E27FC236}">
                <a16:creationId xmlns:a16="http://schemas.microsoft.com/office/drawing/2014/main" id="{A70F66FD-8EE4-4967-A14A-1F69D3FDD20B}"/>
              </a:ext>
            </a:extLst>
          </p:cNvPr>
          <p:cNvSpPr>
            <a:spLocks noGrp="1"/>
          </p:cNvSpPr>
          <p:nvPr/>
        </p:nvSpPr>
        <p:spPr>
          <a:xfrm>
            <a:off x="4476750" y="7667625"/>
            <a:ext cx="11430000" cy="876300"/>
          </a:xfrm>
          <a:prstGeom prst="roundRect">
            <a:avLst>
              <a:gd name="adj" fmla="val 17391"/>
            </a:avLst>
          </a:prstGeom>
          <a:solidFill>
            <a:srgbClr val="F4EFEB"/>
          </a:solidFill>
          <a:ln w="0">
            <a:noFill/>
            <a:prstDash val="solid"/>
          </a:ln>
        </p:spPr>
      </p:sp>
      <p:sp>
        <p:nvSpPr>
          <p:cNvPr id="23" name="Business value takeaway">
            <a:extLst>
              <a:ext uri="{FF2B5EF4-FFF2-40B4-BE49-F238E27FC236}">
                <a16:creationId xmlns:a16="http://schemas.microsoft.com/office/drawing/2014/main" id="{513A01FC-044D-45BD-8670-5149C62EB453}"/>
              </a:ext>
            </a:extLst>
          </p:cNvPr>
          <p:cNvSpPr>
            <a:spLocks noGrp="1"/>
          </p:cNvSpPr>
          <p:nvPr/>
        </p:nvSpPr>
        <p:spPr>
          <a:xfrm>
            <a:off x="4762500" y="7810500"/>
            <a:ext cx="1085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725" b="1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defPPr>
          </a:lstStyle>
          <a:p>
            <a:pPr algn="l">
              <a:defRPr sz="1725" b="1">
                <a:solidFill>
                  <a:srgbClr val="683420"/>
                </a:solidFill>
                <a:latin typeface="Noto Serif"/>
                <a:ea typeface="Noto Serif"/>
                <a:cs typeface="Noto Serif"/>
              </a:defRPr>
            </a:pPr>
            <a:r>
              <a:rPr sz="1725" b="1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Business value: choose where to investigate next. Sales, profit and workforce data are needed to confirm business impact.</a:t>
            </a:r>
          </a:p>
        </p:txBody>
      </p:sp>
    </p:spTree>
    <p:extLst>
      <p:ext uri="{BB962C8B-B14F-4D97-AF65-F5344CB8AC3E}">
        <p14:creationId xmlns:p14="http://schemas.microsoft.com/office/powerpoint/2010/main" val="99563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06BF7A-2C79-46F1-A1AF-DFFE4A3D581B}"/>
              </a:ext>
            </a:extLst>
          </p:cNvPr>
          <p:cNvSpPr>
            <a:spLocks noGrp="1"/>
          </p:cNvSpPr>
          <p:nvPr/>
        </p:nvSpPr>
        <p:spPr>
          <a:xfrm flipH="1" flipV="1">
            <a:off x="8687733" y="-230963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9791323" y="3622790"/>
                </a:moveTo>
                <a:lnTo>
                  <a:pt x="0" y="3622790"/>
                </a:lnTo>
                <a:lnTo>
                  <a:pt x="0" y="0"/>
                </a:lnTo>
                <a:lnTo>
                  <a:pt x="9791323" y="0"/>
                </a:lnTo>
                <a:lnTo>
                  <a:pt x="9791323" y="36227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7592805-3081-4AD0-98DC-B4B0E3914FC8}"/>
              </a:ext>
            </a:extLst>
          </p:cNvPr>
          <p:cNvSpPr>
            <a:spLocks noGrp="1"/>
          </p:cNvSpPr>
          <p:nvPr/>
        </p:nvSpPr>
        <p:spPr>
          <a:xfrm>
            <a:off x="-226934" y="6971871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0" y="0"/>
                </a:moveTo>
                <a:lnTo>
                  <a:pt x="9791323" y="0"/>
                </a:lnTo>
                <a:lnTo>
                  <a:pt x="9791323" y="3622790"/>
                </a:lnTo>
                <a:lnTo>
                  <a:pt x="0" y="3622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1720F61-A390-49FC-87FD-F6FDDA7BC85F}"/>
              </a:ext>
            </a:extLst>
          </p:cNvPr>
          <p:cNvSpPr>
            <a:spLocks noGrp="1"/>
          </p:cNvSpPr>
          <p:nvPr/>
        </p:nvSpPr>
        <p:spPr>
          <a:xfrm>
            <a:off x="2954839" y="1792988"/>
            <a:ext cx="12352917" cy="20605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6225"/>
              </a:lnSpc>
              <a:buNone/>
            </a:pPr>
            <a:r>
              <a:rPr sz="11589" b="1">
                <a:solidFill>
                  <a:srgbClr val="683420"/>
                </a:solidFill>
                <a:latin typeface="Cardo Bold"/>
                <a:ea typeface="Cardo Bold"/>
                <a:cs typeface="Cardo Bold"/>
              </a:rPr>
              <a:t>Data Structure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387B718-C8BE-42CD-8B20-1A377B2DE64E}"/>
              </a:ext>
            </a:extLst>
          </p:cNvPr>
          <p:cNvSpPr>
            <a:spLocks noGrp="1"/>
          </p:cNvSpPr>
          <p:nvPr/>
        </p:nvSpPr>
        <p:spPr>
          <a:xfrm>
            <a:off x="1831659" y="2238540"/>
            <a:ext cx="1294756" cy="1294756"/>
          </a:xfrm>
          <a:custGeom>
            <a:avLst/>
            <a:gdLst/>
            <a:ahLst/>
            <a:cxnLst/>
            <a:rect l="l" t="t" r="r" b="b"/>
            <a:pathLst>
              <a:path w="1294756" h="1294756">
                <a:moveTo>
                  <a:pt x="0" y="0"/>
                </a:moveTo>
                <a:lnTo>
                  <a:pt x="1294756" y="0"/>
                </a:lnTo>
                <a:lnTo>
                  <a:pt x="1294756" y="1294755"/>
                </a:lnTo>
                <a:lnTo>
                  <a:pt x="0" y="1294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1E694F3-2870-4E28-992B-669705B5295E}"/>
              </a:ext>
            </a:extLst>
          </p:cNvPr>
          <p:cNvSpPr>
            <a:spLocks noGrp="1"/>
          </p:cNvSpPr>
          <p:nvPr/>
        </p:nvSpPr>
        <p:spPr>
          <a:xfrm rot="-5400000">
            <a:off x="1474377" y="6067901"/>
            <a:ext cx="2009320" cy="1004660"/>
          </a:xfrm>
          <a:custGeom>
            <a:avLst/>
            <a:gdLst/>
            <a:ahLst/>
            <a:cxnLst/>
            <a:rect l="l" t="t" r="r" b="b"/>
            <a:pathLst>
              <a:path w="2009320" h="1004660">
                <a:moveTo>
                  <a:pt x="0" y="0"/>
                </a:moveTo>
                <a:lnTo>
                  <a:pt x="2009320" y="0"/>
                </a:lnTo>
                <a:lnTo>
                  <a:pt x="2009320" y="1004660"/>
                </a:lnTo>
                <a:lnTo>
                  <a:pt x="0" y="1004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DD2590A-21C0-42C5-A1CF-EA72452034B5}"/>
              </a:ext>
            </a:extLst>
          </p:cNvPr>
          <p:cNvSpPr>
            <a:spLocks noGrp="1"/>
          </p:cNvSpPr>
          <p:nvPr/>
        </p:nvSpPr>
        <p:spPr>
          <a:xfrm rot="-5400000">
            <a:off x="14633508" y="6239819"/>
            <a:ext cx="1912760" cy="564264"/>
          </a:xfrm>
          <a:custGeom>
            <a:avLst/>
            <a:gdLst/>
            <a:ahLst/>
            <a:cxnLst/>
            <a:rect l="l" t="t" r="r" b="b"/>
            <a:pathLst>
              <a:path w="1912760" h="564264">
                <a:moveTo>
                  <a:pt x="0" y="0"/>
                </a:moveTo>
                <a:lnTo>
                  <a:pt x="1912759" y="0"/>
                </a:lnTo>
                <a:lnTo>
                  <a:pt x="1912759" y="564264"/>
                </a:lnTo>
                <a:lnTo>
                  <a:pt x="0" y="56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D4568DB-0950-4900-B0C8-509643DA1976}"/>
              </a:ext>
            </a:extLst>
          </p:cNvPr>
          <p:cNvSpPr>
            <a:spLocks noGrp="1"/>
          </p:cNvSpPr>
          <p:nvPr/>
        </p:nvSpPr>
        <p:spPr>
          <a:xfrm>
            <a:off x="4205792" y="4821807"/>
            <a:ext cx="4145002" cy="34839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Fields include product ID, hierarchical category, listed price, discount, rating and review count. The file has 211 detailed category strings rolled into top-level groups.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934B74B-4A16-47DF-B033-BA09C6321A07}"/>
              </a:ext>
            </a:extLst>
          </p:cNvPr>
          <p:cNvSpPr>
            <a:spLocks noGrp="1"/>
          </p:cNvSpPr>
          <p:nvPr/>
        </p:nvSpPr>
        <p:spPr>
          <a:xfrm>
            <a:off x="9911800" y="4821807"/>
            <a:ext cx="4145002" cy="34839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There are 1,351 distinct IDs across 1,465 rows: 114 repeated ID occurrences and zero exact duplicate rows. Repeated IDs should be checked before joining operational data.</a:t>
            </a:r>
          </a:p>
        </p:txBody>
      </p:sp>
    </p:spTree>
    <p:extLst>
      <p:ext uri="{BB962C8B-B14F-4D97-AF65-F5344CB8AC3E}">
        <p14:creationId xmlns:p14="http://schemas.microsoft.com/office/powerpoint/2010/main" val="1550823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21DF82-B95B-4441-A90F-024CE0EE2F55}"/>
              </a:ext>
            </a:extLst>
          </p:cNvPr>
          <p:cNvSpPr>
            <a:spLocks noGrp="1"/>
          </p:cNvSpPr>
          <p:nvPr/>
        </p:nvSpPr>
        <p:spPr>
          <a:xfrm>
            <a:off x="-226934" y="6971871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0" y="0"/>
                </a:moveTo>
                <a:lnTo>
                  <a:pt x="9791323" y="0"/>
                </a:lnTo>
                <a:lnTo>
                  <a:pt x="9791323" y="3622790"/>
                </a:lnTo>
                <a:lnTo>
                  <a:pt x="0" y="3622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5567F6E-3EF1-4A35-8DBF-073C6320732E}"/>
              </a:ext>
            </a:extLst>
          </p:cNvPr>
          <p:cNvSpPr>
            <a:spLocks noGrp="1"/>
          </p:cNvSpPr>
          <p:nvPr/>
        </p:nvSpPr>
        <p:spPr>
          <a:xfrm flipV="1">
            <a:off x="-150387" y="-322078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0" y="3622789"/>
                </a:moveTo>
                <a:lnTo>
                  <a:pt x="9791322" y="3622789"/>
                </a:lnTo>
                <a:lnTo>
                  <a:pt x="9791322" y="0"/>
                </a:lnTo>
                <a:lnTo>
                  <a:pt x="0" y="0"/>
                </a:lnTo>
                <a:lnTo>
                  <a:pt x="0" y="36227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EFACCE8-AB24-4617-B4D0-AE929DCDBC16}"/>
              </a:ext>
            </a:extLst>
          </p:cNvPr>
          <p:cNvSpPr>
            <a:spLocks noGrp="1"/>
          </p:cNvSpPr>
          <p:nvPr/>
        </p:nvSpPr>
        <p:spPr>
          <a:xfrm>
            <a:off x="2954839" y="1792988"/>
            <a:ext cx="12352917" cy="20605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6225"/>
              </a:lnSpc>
              <a:buNone/>
            </a:pPr>
            <a:r>
              <a:rPr sz="11589" b="1">
                <a:solidFill>
                  <a:srgbClr val="683420"/>
                </a:solidFill>
                <a:latin typeface="Cardo Bold"/>
                <a:ea typeface="Cardo Bold"/>
                <a:cs typeface="Cardo Bold"/>
              </a:rPr>
              <a:t>EDA Methods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CBFAA3A-49ED-4AE1-8CFA-BC9C0732514B}"/>
              </a:ext>
            </a:extLst>
          </p:cNvPr>
          <p:cNvSpPr>
            <a:spLocks noGrp="1"/>
          </p:cNvSpPr>
          <p:nvPr/>
        </p:nvSpPr>
        <p:spPr>
          <a:xfrm>
            <a:off x="15162707" y="2245256"/>
            <a:ext cx="1294756" cy="1294756"/>
          </a:xfrm>
          <a:custGeom>
            <a:avLst/>
            <a:gdLst/>
            <a:ahLst/>
            <a:cxnLst/>
            <a:rect l="l" t="t" r="r" b="b"/>
            <a:pathLst>
              <a:path w="1294756" h="1294756">
                <a:moveTo>
                  <a:pt x="0" y="0"/>
                </a:moveTo>
                <a:lnTo>
                  <a:pt x="1294756" y="0"/>
                </a:lnTo>
                <a:lnTo>
                  <a:pt x="1294756" y="1294755"/>
                </a:lnTo>
                <a:lnTo>
                  <a:pt x="0" y="1294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8781AF7-1E49-45C3-BE13-4C6301849B16}"/>
              </a:ext>
            </a:extLst>
          </p:cNvPr>
          <p:cNvSpPr>
            <a:spLocks noGrp="1"/>
          </p:cNvSpPr>
          <p:nvPr/>
        </p:nvSpPr>
        <p:spPr>
          <a:xfrm rot="-5400000">
            <a:off x="1522657" y="6239819"/>
            <a:ext cx="1912760" cy="564264"/>
          </a:xfrm>
          <a:custGeom>
            <a:avLst/>
            <a:gdLst/>
            <a:ahLst/>
            <a:cxnLst/>
            <a:rect l="l" t="t" r="r" b="b"/>
            <a:pathLst>
              <a:path w="1912760" h="564264">
                <a:moveTo>
                  <a:pt x="0" y="0"/>
                </a:moveTo>
                <a:lnTo>
                  <a:pt x="1912760" y="0"/>
                </a:lnTo>
                <a:lnTo>
                  <a:pt x="1912760" y="564264"/>
                </a:lnTo>
                <a:lnTo>
                  <a:pt x="0" y="56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DD026D6-F945-44F3-B6BA-5D49A434284F}"/>
              </a:ext>
            </a:extLst>
          </p:cNvPr>
          <p:cNvSpPr>
            <a:spLocks noGrp="1"/>
          </p:cNvSpPr>
          <p:nvPr/>
        </p:nvSpPr>
        <p:spPr>
          <a:xfrm rot="-5400000">
            <a:off x="14805425" y="5971341"/>
            <a:ext cx="2009320" cy="1004660"/>
          </a:xfrm>
          <a:custGeom>
            <a:avLst/>
            <a:gdLst/>
            <a:ahLst/>
            <a:cxnLst/>
            <a:rect l="l" t="t" r="r" b="b"/>
            <a:pathLst>
              <a:path w="2009320" h="1004660">
                <a:moveTo>
                  <a:pt x="0" y="0"/>
                </a:moveTo>
                <a:lnTo>
                  <a:pt x="2009320" y="0"/>
                </a:lnTo>
                <a:lnTo>
                  <a:pt x="2009320" y="1004660"/>
                </a:lnTo>
                <a:lnTo>
                  <a:pt x="0" y="1004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BCAF711-C7D3-4E88-805F-2D8DFB4D441D}"/>
              </a:ext>
            </a:extLst>
          </p:cNvPr>
          <p:cNvSpPr>
            <a:spLocks noGrp="1"/>
          </p:cNvSpPr>
          <p:nvPr/>
        </p:nvSpPr>
        <p:spPr>
          <a:xfrm>
            <a:off x="4205792" y="4766811"/>
            <a:ext cx="4145002" cy="34839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>
              <a:defRPr sz="2175"/>
            </a:defPPr>
          </a:lstStyle>
          <a:p>
            <a:pPr algn="l">
              <a:lnSpc>
                <a:spcPts val="3919"/>
              </a:lnSpc>
              <a:buNone/>
              <a:defRPr sz="2175"/>
            </a:pPr>
            <a:r>
              <a:rPr sz="2175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Cleaned rupee prices, discount percentages and review counts as numbers. Replaced one malformed rating (|) with 3.9 and median-filled two missing review counts. Compared category counts, means, medians and distributions.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8CF189D-9B6E-4EA1-B8CD-6D8442BDA722}"/>
              </a:ext>
            </a:extLst>
          </p:cNvPr>
          <p:cNvSpPr>
            <a:spLocks noGrp="1"/>
          </p:cNvSpPr>
          <p:nvPr/>
        </p:nvSpPr>
        <p:spPr>
          <a:xfrm>
            <a:off x="9911800" y="4766811"/>
            <a:ext cx="4145002" cy="29862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>
              <a:defRPr sz="2175"/>
            </a:defPPr>
          </a:lstStyle>
          <a:p>
            <a:pPr algn="l">
              <a:lnSpc>
                <a:spcPts val="3919"/>
              </a:lnSpc>
              <a:buNone/>
              <a:defRPr sz="2175"/>
            </a:pPr>
            <a:r>
              <a:rPr sz="2175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Top three categories make up 97.4% of rows. Mean discount: 47.7%; median: 50%. Mean rating: 4.1/5. Reviews are skewed (median 5,179; mean 18,278). These are descriptive, not causal, findings.</a:t>
            </a:r>
          </a:p>
        </p:txBody>
      </p:sp>
    </p:spTree>
    <p:extLst>
      <p:ext uri="{BB962C8B-B14F-4D97-AF65-F5344CB8AC3E}">
        <p14:creationId xmlns:p14="http://schemas.microsoft.com/office/powerpoint/2010/main" val="413158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47B2B1-E46F-426E-9570-032E96812045}"/>
              </a:ext>
            </a:extLst>
          </p:cNvPr>
          <p:cNvSpPr>
            <a:spLocks noGrp="1"/>
          </p:cNvSpPr>
          <p:nvPr/>
        </p:nvSpPr>
        <p:spPr>
          <a:xfrm flipH="1" flipV="1">
            <a:off x="8667399" y="-405164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9791322" y="3622789"/>
                </a:moveTo>
                <a:lnTo>
                  <a:pt x="0" y="3622789"/>
                </a:lnTo>
                <a:lnTo>
                  <a:pt x="0" y="0"/>
                </a:lnTo>
                <a:lnTo>
                  <a:pt x="9791322" y="0"/>
                </a:lnTo>
                <a:lnTo>
                  <a:pt x="9791322" y="36227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8392CCA-8E75-4653-AABC-C7A5C3680ACF}"/>
              </a:ext>
            </a:extLst>
          </p:cNvPr>
          <p:cNvSpPr>
            <a:spLocks noGrp="1"/>
          </p:cNvSpPr>
          <p:nvPr/>
        </p:nvSpPr>
        <p:spPr>
          <a:xfrm>
            <a:off x="15285527" y="5929569"/>
            <a:ext cx="1294756" cy="1294756"/>
          </a:xfrm>
          <a:custGeom>
            <a:avLst/>
            <a:gdLst/>
            <a:ahLst/>
            <a:cxnLst/>
            <a:rect l="l" t="t" r="r" b="b"/>
            <a:pathLst>
              <a:path w="1294756" h="1294756">
                <a:moveTo>
                  <a:pt x="0" y="0"/>
                </a:moveTo>
                <a:lnTo>
                  <a:pt x="1294756" y="0"/>
                </a:lnTo>
                <a:lnTo>
                  <a:pt x="1294756" y="1294756"/>
                </a:lnTo>
                <a:lnTo>
                  <a:pt x="0" y="1294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88AB886-CFF9-4350-9D10-AD28AFC8C100}"/>
              </a:ext>
            </a:extLst>
          </p:cNvPr>
          <p:cNvSpPr>
            <a:spLocks noGrp="1"/>
          </p:cNvSpPr>
          <p:nvPr/>
        </p:nvSpPr>
        <p:spPr>
          <a:xfrm rot="-5400000">
            <a:off x="1474377" y="4887113"/>
            <a:ext cx="2009320" cy="1004660"/>
          </a:xfrm>
          <a:custGeom>
            <a:avLst/>
            <a:gdLst/>
            <a:ahLst/>
            <a:cxnLst/>
            <a:rect l="l" t="t" r="r" b="b"/>
            <a:pathLst>
              <a:path w="2009320" h="1004660">
                <a:moveTo>
                  <a:pt x="0" y="0"/>
                </a:moveTo>
                <a:lnTo>
                  <a:pt x="2009320" y="0"/>
                </a:lnTo>
                <a:lnTo>
                  <a:pt x="2009320" y="1004660"/>
                </a:lnTo>
                <a:lnTo>
                  <a:pt x="0" y="1004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ABB77E9-D85A-4324-B63D-1F7E8ED6B816}"/>
              </a:ext>
            </a:extLst>
          </p:cNvPr>
          <p:cNvSpPr>
            <a:spLocks noGrp="1"/>
          </p:cNvSpPr>
          <p:nvPr/>
        </p:nvSpPr>
        <p:spPr>
          <a:xfrm rot="-5400000">
            <a:off x="1522657" y="7530598"/>
            <a:ext cx="1912760" cy="564264"/>
          </a:xfrm>
          <a:custGeom>
            <a:avLst/>
            <a:gdLst/>
            <a:ahLst/>
            <a:cxnLst/>
            <a:rect l="l" t="t" r="r" b="b"/>
            <a:pathLst>
              <a:path w="1912760" h="564264">
                <a:moveTo>
                  <a:pt x="0" y="0"/>
                </a:moveTo>
                <a:lnTo>
                  <a:pt x="1912760" y="0"/>
                </a:lnTo>
                <a:lnTo>
                  <a:pt x="1912760" y="564265"/>
                </a:lnTo>
                <a:lnTo>
                  <a:pt x="0" y="5642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6C2B028-F1A3-4302-AC65-2DD3E132D714}"/>
              </a:ext>
            </a:extLst>
          </p:cNvPr>
          <p:cNvSpPr>
            <a:spLocks noGrp="1"/>
          </p:cNvSpPr>
          <p:nvPr/>
        </p:nvSpPr>
        <p:spPr>
          <a:xfrm>
            <a:off x="4205792" y="4821807"/>
            <a:ext cx="4145002" cy="149313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Average product rating: 4.1 / 5. 75.8% of listings rate 4.0 or higher.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7E91096-9E14-4F3B-A586-E2622ED97C3E}"/>
              </a:ext>
            </a:extLst>
          </p:cNvPr>
          <p:cNvSpPr>
            <a:spLocks noGrp="1"/>
          </p:cNvSpPr>
          <p:nvPr/>
        </p:nvSpPr>
        <p:spPr>
          <a:xfrm>
            <a:off x="9911800" y="4821807"/>
            <a:ext cx="4145002" cy="34839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Reviews per row: median 5,179; mean 18,278. A few highly reviewed listings pull up the average. Review volume signals visibility and feedback depth, not units sold.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89BC689-EA7A-4188-B111-42724A466DE6}"/>
              </a:ext>
            </a:extLst>
          </p:cNvPr>
          <p:cNvSpPr>
            <a:spLocks noGrp="1"/>
          </p:cNvSpPr>
          <p:nvPr/>
        </p:nvSpPr>
        <p:spPr>
          <a:xfrm flipV="1">
            <a:off x="-170721" y="-496279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0" y="3622789"/>
                </a:moveTo>
                <a:lnTo>
                  <a:pt x="9791322" y="3622789"/>
                </a:lnTo>
                <a:lnTo>
                  <a:pt x="9791322" y="0"/>
                </a:lnTo>
                <a:lnTo>
                  <a:pt x="0" y="0"/>
                </a:lnTo>
                <a:lnTo>
                  <a:pt x="0" y="36227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62E092A-4270-49D7-A06D-5C28188A4B6A}"/>
              </a:ext>
            </a:extLst>
          </p:cNvPr>
          <p:cNvSpPr>
            <a:spLocks noGrp="1"/>
          </p:cNvSpPr>
          <p:nvPr/>
        </p:nvSpPr>
        <p:spPr>
          <a:xfrm>
            <a:off x="1437808" y="1792988"/>
            <a:ext cx="15386978" cy="20605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6225"/>
              </a:lnSpc>
              <a:buNone/>
            </a:pPr>
            <a:r>
              <a:rPr sz="11589" b="1">
                <a:solidFill>
                  <a:srgbClr val="683420"/>
                </a:solidFill>
                <a:latin typeface="Cardo Bold"/>
                <a:ea typeface="Cardo Bold"/>
                <a:cs typeface="Cardo Bold"/>
              </a:rPr>
              <a:t>Customer Feedback</a:t>
            </a:r>
          </a:p>
        </p:txBody>
      </p:sp>
    </p:spTree>
    <p:extLst>
      <p:ext uri="{BB962C8B-B14F-4D97-AF65-F5344CB8AC3E}">
        <p14:creationId xmlns:p14="http://schemas.microsoft.com/office/powerpoint/2010/main" val="714227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31FD5E-181D-495C-834F-48DED924AC04}"/>
              </a:ext>
            </a:extLst>
          </p:cNvPr>
          <p:cNvSpPr>
            <a:spLocks noGrp="1"/>
          </p:cNvSpPr>
          <p:nvPr/>
        </p:nvSpPr>
        <p:spPr>
          <a:xfrm flipH="1" flipV="1">
            <a:off x="8687733" y="-230963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9791323" y="3622790"/>
                </a:moveTo>
                <a:lnTo>
                  <a:pt x="0" y="3622790"/>
                </a:lnTo>
                <a:lnTo>
                  <a:pt x="0" y="0"/>
                </a:lnTo>
                <a:lnTo>
                  <a:pt x="9791323" y="0"/>
                </a:lnTo>
                <a:lnTo>
                  <a:pt x="9791323" y="36227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3FE42B8-B3EF-4EFE-B068-AF5E3DEF64E4}"/>
              </a:ext>
            </a:extLst>
          </p:cNvPr>
          <p:cNvSpPr>
            <a:spLocks noGrp="1"/>
          </p:cNvSpPr>
          <p:nvPr/>
        </p:nvSpPr>
        <p:spPr>
          <a:xfrm>
            <a:off x="-226934" y="6971871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0" y="0"/>
                </a:moveTo>
                <a:lnTo>
                  <a:pt x="9791323" y="0"/>
                </a:lnTo>
                <a:lnTo>
                  <a:pt x="9791323" y="3622790"/>
                </a:lnTo>
                <a:lnTo>
                  <a:pt x="0" y="3622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22890A5-932E-4A23-B047-0EA09814F75C}"/>
              </a:ext>
            </a:extLst>
          </p:cNvPr>
          <p:cNvSpPr>
            <a:spLocks noGrp="1"/>
          </p:cNvSpPr>
          <p:nvPr/>
        </p:nvSpPr>
        <p:spPr>
          <a:xfrm>
            <a:off x="2954839" y="1792988"/>
            <a:ext cx="12352917" cy="20605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6225"/>
              </a:lnSpc>
              <a:buNone/>
            </a:pPr>
            <a:r>
              <a:rPr sz="11589" b="1">
                <a:solidFill>
                  <a:srgbClr val="683420"/>
                </a:solidFill>
                <a:latin typeface="Cardo Bold"/>
                <a:ea typeface="Cardo Bold"/>
                <a:cs typeface="Cardo Bold"/>
              </a:rPr>
              <a:t>Catalog Mix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7B781A8-9762-42A0-A1C6-5FC2378766AA}"/>
              </a:ext>
            </a:extLst>
          </p:cNvPr>
          <p:cNvSpPr>
            <a:spLocks noGrp="1"/>
          </p:cNvSpPr>
          <p:nvPr/>
        </p:nvSpPr>
        <p:spPr>
          <a:xfrm>
            <a:off x="1831659" y="2238540"/>
            <a:ext cx="1294756" cy="1294756"/>
          </a:xfrm>
          <a:custGeom>
            <a:avLst/>
            <a:gdLst/>
            <a:ahLst/>
            <a:cxnLst/>
            <a:rect l="l" t="t" r="r" b="b"/>
            <a:pathLst>
              <a:path w="1294756" h="1294756">
                <a:moveTo>
                  <a:pt x="0" y="0"/>
                </a:moveTo>
                <a:lnTo>
                  <a:pt x="1294756" y="0"/>
                </a:lnTo>
                <a:lnTo>
                  <a:pt x="1294756" y="1294755"/>
                </a:lnTo>
                <a:lnTo>
                  <a:pt x="0" y="1294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835DB2A-30C4-4523-ADF8-040AEEA34C18}"/>
              </a:ext>
            </a:extLst>
          </p:cNvPr>
          <p:cNvSpPr>
            <a:spLocks noGrp="1"/>
          </p:cNvSpPr>
          <p:nvPr/>
        </p:nvSpPr>
        <p:spPr>
          <a:xfrm rot="-5400000">
            <a:off x="1474377" y="6067901"/>
            <a:ext cx="2009320" cy="1004660"/>
          </a:xfrm>
          <a:custGeom>
            <a:avLst/>
            <a:gdLst/>
            <a:ahLst/>
            <a:cxnLst/>
            <a:rect l="l" t="t" r="r" b="b"/>
            <a:pathLst>
              <a:path w="2009320" h="1004660">
                <a:moveTo>
                  <a:pt x="0" y="0"/>
                </a:moveTo>
                <a:lnTo>
                  <a:pt x="2009320" y="0"/>
                </a:lnTo>
                <a:lnTo>
                  <a:pt x="2009320" y="1004660"/>
                </a:lnTo>
                <a:lnTo>
                  <a:pt x="0" y="1004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9F30BF3-D192-41C0-A2D6-1D8946E1F5EA}"/>
              </a:ext>
            </a:extLst>
          </p:cNvPr>
          <p:cNvSpPr>
            <a:spLocks noGrp="1"/>
          </p:cNvSpPr>
          <p:nvPr/>
        </p:nvSpPr>
        <p:spPr>
          <a:xfrm rot="-10800000">
            <a:off x="14351376" y="2610502"/>
            <a:ext cx="1912760" cy="564264"/>
          </a:xfrm>
          <a:custGeom>
            <a:avLst/>
            <a:gdLst/>
            <a:ahLst/>
            <a:cxnLst/>
            <a:rect l="l" t="t" r="r" b="b"/>
            <a:pathLst>
              <a:path w="1912760" h="564264">
                <a:moveTo>
                  <a:pt x="0" y="0"/>
                </a:moveTo>
                <a:lnTo>
                  <a:pt x="1912759" y="0"/>
                </a:lnTo>
                <a:lnTo>
                  <a:pt x="1912759" y="564264"/>
                </a:lnTo>
                <a:lnTo>
                  <a:pt x="0" y="56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D0BB3D0-2B15-4EFD-B486-9E7712406D13}"/>
              </a:ext>
            </a:extLst>
          </p:cNvPr>
          <p:cNvSpPr>
            <a:spLocks noGrp="1"/>
          </p:cNvSpPr>
          <p:nvPr/>
        </p:nvSpPr>
        <p:spPr>
          <a:xfrm>
            <a:off x="4205792" y="4821807"/>
            <a:ext cx="4145002" cy="34839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Electronics 526; Computers &amp; Accessories 453; Home &amp; Kitchen 448; Office Products 31; other 7. The three largest categories account for 1,427 of 1,465 rows (97.4%), not sales volume.</a:t>
            </a:r>
          </a:p>
        </p:txBody>
      </p:sp>
      <p:graphicFrame>
        <p:nvGraphicFramePr>
          <p:cNvPr id="9" name="Chart">
            <a:extLst>
              <a:ext uri="{FF2B5EF4-FFF2-40B4-BE49-F238E27FC236}">
                <a16:creationId xmlns:a16="http://schemas.microsoft.com/office/drawing/2014/main" id="{1868757D-7270-4DD2-94A6-D2E66E8522CD}"/>
              </a:ext>
            </a:extLst>
          </p:cNvPr>
          <p:cNvGraphicFramePr/>
          <p:nvPr/>
        </p:nvGraphicFramePr>
        <p:xfrm>
          <a:off x="8858250" y="3857625"/>
          <a:ext cx="809625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0008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4AB37E-8194-40DF-B9F5-08966B2D5171}"/>
              </a:ext>
            </a:extLst>
          </p:cNvPr>
          <p:cNvSpPr>
            <a:spLocks noGrp="1"/>
          </p:cNvSpPr>
          <p:nvPr/>
        </p:nvSpPr>
        <p:spPr>
          <a:xfrm flipH="1">
            <a:off x="8723611" y="6971871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9791323" y="0"/>
                </a:moveTo>
                <a:lnTo>
                  <a:pt x="0" y="0"/>
                </a:lnTo>
                <a:lnTo>
                  <a:pt x="0" y="3622790"/>
                </a:lnTo>
                <a:lnTo>
                  <a:pt x="9791323" y="3622790"/>
                </a:lnTo>
                <a:lnTo>
                  <a:pt x="97913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1FF6C87-49D0-4609-9CDC-9D7A28803620}"/>
              </a:ext>
            </a:extLst>
          </p:cNvPr>
          <p:cNvSpPr>
            <a:spLocks noGrp="1"/>
          </p:cNvSpPr>
          <p:nvPr/>
        </p:nvSpPr>
        <p:spPr>
          <a:xfrm flipH="1" flipV="1">
            <a:off x="8687733" y="-230963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9791323" y="3622790"/>
                </a:moveTo>
                <a:lnTo>
                  <a:pt x="0" y="3622790"/>
                </a:lnTo>
                <a:lnTo>
                  <a:pt x="0" y="0"/>
                </a:lnTo>
                <a:lnTo>
                  <a:pt x="9791323" y="0"/>
                </a:lnTo>
                <a:lnTo>
                  <a:pt x="9791323" y="36227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1F7BFB2-8A54-4D84-BC73-2FC26038156B}"/>
              </a:ext>
            </a:extLst>
          </p:cNvPr>
          <p:cNvSpPr>
            <a:spLocks noGrp="1"/>
          </p:cNvSpPr>
          <p:nvPr/>
        </p:nvSpPr>
        <p:spPr>
          <a:xfrm>
            <a:off x="2967542" y="1786272"/>
            <a:ext cx="12352917" cy="20605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6225"/>
              </a:lnSpc>
              <a:buNone/>
            </a:pPr>
            <a:r>
              <a:rPr sz="11589" b="1">
                <a:solidFill>
                  <a:srgbClr val="683420"/>
                </a:solidFill>
                <a:latin typeface="Cardo Bold"/>
                <a:ea typeface="Cardo Bold"/>
                <a:cs typeface="Cardo Bold"/>
              </a:rPr>
              <a:t>Pricing Patterns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36DEABC-D100-430C-862E-8096F966968C}"/>
              </a:ext>
            </a:extLst>
          </p:cNvPr>
          <p:cNvSpPr>
            <a:spLocks noGrp="1"/>
          </p:cNvSpPr>
          <p:nvPr/>
        </p:nvSpPr>
        <p:spPr>
          <a:xfrm>
            <a:off x="5399755" y="4866227"/>
            <a:ext cx="7281336" cy="29862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Mean discount: 47.7%; median: 50%; 47% of listings exceed 50%. Category averages: Computers &amp; Accessories 54.0%, Electronics 50.8%, Home &amp; Kitchen 40.1%, Office Products 12.4%. Listed discounts do not prove sales lift or profit impact.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3606BC2-1157-4792-B28E-EA218EE0FD55}"/>
              </a:ext>
            </a:extLst>
          </p:cNvPr>
          <p:cNvSpPr>
            <a:spLocks noGrp="1"/>
          </p:cNvSpPr>
          <p:nvPr/>
        </p:nvSpPr>
        <p:spPr>
          <a:xfrm>
            <a:off x="2375461" y="6529301"/>
            <a:ext cx="1294756" cy="1294756"/>
          </a:xfrm>
          <a:custGeom>
            <a:avLst/>
            <a:gdLst/>
            <a:ahLst/>
            <a:cxnLst/>
            <a:rect l="l" t="t" r="r" b="b"/>
            <a:pathLst>
              <a:path w="1294756" h="1294756">
                <a:moveTo>
                  <a:pt x="0" y="0"/>
                </a:moveTo>
                <a:lnTo>
                  <a:pt x="1294755" y="0"/>
                </a:lnTo>
                <a:lnTo>
                  <a:pt x="1294755" y="1294756"/>
                </a:lnTo>
                <a:lnTo>
                  <a:pt x="0" y="1294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CA0F2B6-E21D-4277-8E43-7B3091ECA947}"/>
              </a:ext>
            </a:extLst>
          </p:cNvPr>
          <p:cNvSpPr>
            <a:spLocks noGrp="1"/>
          </p:cNvSpPr>
          <p:nvPr/>
        </p:nvSpPr>
        <p:spPr>
          <a:xfrm>
            <a:off x="14212222" y="6819397"/>
            <a:ext cx="2009320" cy="1004660"/>
          </a:xfrm>
          <a:custGeom>
            <a:avLst/>
            <a:gdLst/>
            <a:ahLst/>
            <a:cxnLst/>
            <a:rect l="l" t="t" r="r" b="b"/>
            <a:pathLst>
              <a:path w="2009320" h="1004660">
                <a:moveTo>
                  <a:pt x="0" y="0"/>
                </a:moveTo>
                <a:lnTo>
                  <a:pt x="2009319" y="0"/>
                </a:lnTo>
                <a:lnTo>
                  <a:pt x="2009319" y="1004660"/>
                </a:lnTo>
                <a:lnTo>
                  <a:pt x="0" y="1004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8E4D6C0-BDAA-45BC-9A2D-F15290EC6FC4}"/>
              </a:ext>
            </a:extLst>
          </p:cNvPr>
          <p:cNvSpPr>
            <a:spLocks noGrp="1"/>
          </p:cNvSpPr>
          <p:nvPr/>
        </p:nvSpPr>
        <p:spPr>
          <a:xfrm>
            <a:off x="2066459" y="4874285"/>
            <a:ext cx="1912760" cy="564264"/>
          </a:xfrm>
          <a:custGeom>
            <a:avLst/>
            <a:gdLst/>
            <a:ahLst/>
            <a:cxnLst/>
            <a:rect l="l" t="t" r="r" b="b"/>
            <a:pathLst>
              <a:path w="1912760" h="564264">
                <a:moveTo>
                  <a:pt x="0" y="0"/>
                </a:moveTo>
                <a:lnTo>
                  <a:pt x="1912759" y="0"/>
                </a:lnTo>
                <a:lnTo>
                  <a:pt x="1912759" y="564264"/>
                </a:lnTo>
                <a:lnTo>
                  <a:pt x="0" y="56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FFC4827-E75E-4A34-A182-ACD0D28910E8}"/>
              </a:ext>
            </a:extLst>
          </p:cNvPr>
          <p:cNvSpPr>
            <a:spLocks noGrp="1"/>
          </p:cNvSpPr>
          <p:nvPr/>
        </p:nvSpPr>
        <p:spPr>
          <a:xfrm>
            <a:off x="14260502" y="4874285"/>
            <a:ext cx="1912760" cy="564264"/>
          </a:xfrm>
          <a:custGeom>
            <a:avLst/>
            <a:gdLst/>
            <a:ahLst/>
            <a:cxnLst/>
            <a:rect l="l" t="t" r="r" b="b"/>
            <a:pathLst>
              <a:path w="1912760" h="564264">
                <a:moveTo>
                  <a:pt x="0" y="0"/>
                </a:moveTo>
                <a:lnTo>
                  <a:pt x="1912759" y="0"/>
                </a:lnTo>
                <a:lnTo>
                  <a:pt x="1912759" y="564264"/>
                </a:lnTo>
                <a:lnTo>
                  <a:pt x="0" y="56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025066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3F6DAA2-1435-4B35-A837-CBC843F859CD}"/>
              </a:ext>
            </a:extLst>
          </p:cNvPr>
          <p:cNvSpPr>
            <a:spLocks noGrp="1"/>
          </p:cNvSpPr>
          <p:nvPr/>
        </p:nvSpPr>
        <p:spPr>
          <a:xfrm>
            <a:off x="-226934" y="6971871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0" y="0"/>
                </a:moveTo>
                <a:lnTo>
                  <a:pt x="9791323" y="0"/>
                </a:lnTo>
                <a:lnTo>
                  <a:pt x="9791323" y="3622790"/>
                </a:lnTo>
                <a:lnTo>
                  <a:pt x="0" y="3622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00C994-BFB8-4A90-A6AB-6CBD4170BA5E}"/>
              </a:ext>
            </a:extLst>
          </p:cNvPr>
          <p:cNvSpPr>
            <a:spLocks noGrp="1"/>
          </p:cNvSpPr>
          <p:nvPr/>
        </p:nvSpPr>
        <p:spPr>
          <a:xfrm flipV="1">
            <a:off x="-150387" y="-322078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0" y="3622789"/>
                </a:moveTo>
                <a:lnTo>
                  <a:pt x="9791322" y="3622789"/>
                </a:lnTo>
                <a:lnTo>
                  <a:pt x="9791322" y="0"/>
                </a:lnTo>
                <a:lnTo>
                  <a:pt x="0" y="0"/>
                </a:lnTo>
                <a:lnTo>
                  <a:pt x="0" y="36227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2FDFE36-73F5-4358-AEEC-792FEA81B8BB}"/>
              </a:ext>
            </a:extLst>
          </p:cNvPr>
          <p:cNvSpPr>
            <a:spLocks noGrp="1"/>
          </p:cNvSpPr>
          <p:nvPr/>
        </p:nvSpPr>
        <p:spPr>
          <a:xfrm>
            <a:off x="2954839" y="1792988"/>
            <a:ext cx="12352917" cy="20605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6225"/>
              </a:lnSpc>
              <a:buNone/>
            </a:pPr>
            <a:r>
              <a:rPr sz="11589" b="1">
                <a:solidFill>
                  <a:srgbClr val="683420"/>
                </a:solidFill>
                <a:latin typeface="Cardo Bold"/>
                <a:ea typeface="Cardo Bold"/>
                <a:cs typeface="Cardo Bold"/>
              </a:rPr>
              <a:t>Business &amp; HR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25AB002-BD75-4777-B9D6-CCC59A5BBF3C}"/>
              </a:ext>
            </a:extLst>
          </p:cNvPr>
          <p:cNvSpPr>
            <a:spLocks noGrp="1"/>
          </p:cNvSpPr>
          <p:nvPr/>
        </p:nvSpPr>
        <p:spPr>
          <a:xfrm>
            <a:off x="1660083" y="5718534"/>
            <a:ext cx="1294756" cy="1294756"/>
          </a:xfrm>
          <a:custGeom>
            <a:avLst/>
            <a:gdLst/>
            <a:ahLst/>
            <a:cxnLst/>
            <a:rect l="l" t="t" r="r" b="b"/>
            <a:pathLst>
              <a:path w="1294756" h="1294756">
                <a:moveTo>
                  <a:pt x="0" y="0"/>
                </a:moveTo>
                <a:lnTo>
                  <a:pt x="1294756" y="0"/>
                </a:lnTo>
                <a:lnTo>
                  <a:pt x="1294756" y="1294755"/>
                </a:lnTo>
                <a:lnTo>
                  <a:pt x="0" y="1294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B80C47F-4A04-48AA-A044-01BC181E79A0}"/>
              </a:ext>
            </a:extLst>
          </p:cNvPr>
          <p:cNvSpPr>
            <a:spLocks noGrp="1"/>
          </p:cNvSpPr>
          <p:nvPr/>
        </p:nvSpPr>
        <p:spPr>
          <a:xfrm rot="-5400000">
            <a:off x="14853705" y="5127400"/>
            <a:ext cx="1912760" cy="564264"/>
          </a:xfrm>
          <a:custGeom>
            <a:avLst/>
            <a:gdLst/>
            <a:ahLst/>
            <a:cxnLst/>
            <a:rect l="l" t="t" r="r" b="b"/>
            <a:pathLst>
              <a:path w="1912760" h="564264">
                <a:moveTo>
                  <a:pt x="0" y="0"/>
                </a:moveTo>
                <a:lnTo>
                  <a:pt x="1912760" y="0"/>
                </a:lnTo>
                <a:lnTo>
                  <a:pt x="1912760" y="564264"/>
                </a:lnTo>
                <a:lnTo>
                  <a:pt x="0" y="56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FDE7543-874E-49A6-9663-42ECA8BE305B}"/>
              </a:ext>
            </a:extLst>
          </p:cNvPr>
          <p:cNvSpPr>
            <a:spLocks noGrp="1"/>
          </p:cNvSpPr>
          <p:nvPr/>
        </p:nvSpPr>
        <p:spPr>
          <a:xfrm rot="-5400000">
            <a:off x="14805425" y="7193752"/>
            <a:ext cx="2009320" cy="1004660"/>
          </a:xfrm>
          <a:custGeom>
            <a:avLst/>
            <a:gdLst/>
            <a:ahLst/>
            <a:cxnLst/>
            <a:rect l="l" t="t" r="r" b="b"/>
            <a:pathLst>
              <a:path w="2009320" h="1004660">
                <a:moveTo>
                  <a:pt x="0" y="0"/>
                </a:moveTo>
                <a:lnTo>
                  <a:pt x="2009320" y="0"/>
                </a:lnTo>
                <a:lnTo>
                  <a:pt x="2009320" y="1004660"/>
                </a:lnTo>
                <a:lnTo>
                  <a:pt x="0" y="1004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22EDCF0-3DDA-4164-991E-EB21EADCA10C}"/>
              </a:ext>
            </a:extLst>
          </p:cNvPr>
          <p:cNvSpPr>
            <a:spLocks noGrp="1"/>
          </p:cNvSpPr>
          <p:nvPr/>
        </p:nvSpPr>
        <p:spPr>
          <a:xfrm>
            <a:off x="4205792" y="4821807"/>
            <a:ext cx="4145002" cy="398170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Business: review the three largest categories, compare discount practices, and flag low-rated or low-feedback listings. These are catalog signals; sales and commercial impact are not measured in this file.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1C61E69-056F-4BAC-9CFA-B45EA6188221}"/>
              </a:ext>
            </a:extLst>
          </p:cNvPr>
          <p:cNvSpPr>
            <a:spLocks noGrp="1"/>
          </p:cNvSpPr>
          <p:nvPr/>
        </p:nvSpPr>
        <p:spPr>
          <a:xfrm>
            <a:off x="9911800" y="4821807"/>
            <a:ext cx="4145002" cy="398170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HR: check team ownership, product-operations capacity, merchandising skills and customer-care coverage against actual workload. Add team hours, roles, skills and staffing cost before recommending changes.</a:t>
            </a:r>
          </a:p>
        </p:txBody>
      </p:sp>
    </p:spTree>
    <p:extLst>
      <p:ext uri="{BB962C8B-B14F-4D97-AF65-F5344CB8AC3E}">
        <p14:creationId xmlns:p14="http://schemas.microsoft.com/office/powerpoint/2010/main" val="1270237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00FCC0-2ED7-4AE9-AD13-F7926919C21D}"/>
              </a:ext>
            </a:extLst>
          </p:cNvPr>
          <p:cNvSpPr>
            <a:spLocks noGrp="1"/>
          </p:cNvSpPr>
          <p:nvPr/>
        </p:nvSpPr>
        <p:spPr>
          <a:xfrm flipH="1" flipV="1">
            <a:off x="8667399" y="-405164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9791322" y="3622789"/>
                </a:moveTo>
                <a:lnTo>
                  <a:pt x="0" y="3622789"/>
                </a:lnTo>
                <a:lnTo>
                  <a:pt x="0" y="0"/>
                </a:lnTo>
                <a:lnTo>
                  <a:pt x="9791322" y="0"/>
                </a:lnTo>
                <a:lnTo>
                  <a:pt x="9791322" y="36227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078B309-277C-4266-A2C2-17A24BD0E192}"/>
              </a:ext>
            </a:extLst>
          </p:cNvPr>
          <p:cNvSpPr>
            <a:spLocks noGrp="1"/>
          </p:cNvSpPr>
          <p:nvPr/>
        </p:nvSpPr>
        <p:spPr>
          <a:xfrm>
            <a:off x="15285527" y="5929569"/>
            <a:ext cx="1294756" cy="1294756"/>
          </a:xfrm>
          <a:custGeom>
            <a:avLst/>
            <a:gdLst/>
            <a:ahLst/>
            <a:cxnLst/>
            <a:rect l="l" t="t" r="r" b="b"/>
            <a:pathLst>
              <a:path w="1294756" h="1294756">
                <a:moveTo>
                  <a:pt x="0" y="0"/>
                </a:moveTo>
                <a:lnTo>
                  <a:pt x="1294756" y="0"/>
                </a:lnTo>
                <a:lnTo>
                  <a:pt x="1294756" y="1294756"/>
                </a:lnTo>
                <a:lnTo>
                  <a:pt x="0" y="1294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2E615AA-B16A-4432-AF28-934E4445DCF4}"/>
              </a:ext>
            </a:extLst>
          </p:cNvPr>
          <p:cNvSpPr>
            <a:spLocks noGrp="1"/>
          </p:cNvSpPr>
          <p:nvPr/>
        </p:nvSpPr>
        <p:spPr>
          <a:xfrm rot="-5400000">
            <a:off x="1474377" y="4887113"/>
            <a:ext cx="2009320" cy="1004660"/>
          </a:xfrm>
          <a:custGeom>
            <a:avLst/>
            <a:gdLst/>
            <a:ahLst/>
            <a:cxnLst/>
            <a:rect l="l" t="t" r="r" b="b"/>
            <a:pathLst>
              <a:path w="2009320" h="1004660">
                <a:moveTo>
                  <a:pt x="0" y="0"/>
                </a:moveTo>
                <a:lnTo>
                  <a:pt x="2009320" y="0"/>
                </a:lnTo>
                <a:lnTo>
                  <a:pt x="2009320" y="1004660"/>
                </a:lnTo>
                <a:lnTo>
                  <a:pt x="0" y="1004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4E8E19F-4C8E-4DA1-804E-ABEF4091FA93}"/>
              </a:ext>
            </a:extLst>
          </p:cNvPr>
          <p:cNvSpPr>
            <a:spLocks noGrp="1"/>
          </p:cNvSpPr>
          <p:nvPr/>
        </p:nvSpPr>
        <p:spPr>
          <a:xfrm rot="-5400000">
            <a:off x="1522657" y="7530598"/>
            <a:ext cx="1912760" cy="564264"/>
          </a:xfrm>
          <a:custGeom>
            <a:avLst/>
            <a:gdLst/>
            <a:ahLst/>
            <a:cxnLst/>
            <a:rect l="l" t="t" r="r" b="b"/>
            <a:pathLst>
              <a:path w="1912760" h="564264">
                <a:moveTo>
                  <a:pt x="0" y="0"/>
                </a:moveTo>
                <a:lnTo>
                  <a:pt x="1912760" y="0"/>
                </a:lnTo>
                <a:lnTo>
                  <a:pt x="1912760" y="564265"/>
                </a:lnTo>
                <a:lnTo>
                  <a:pt x="0" y="5642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99C43BB-A65D-4E0B-83E0-555CBF8D3A29}"/>
              </a:ext>
            </a:extLst>
          </p:cNvPr>
          <p:cNvSpPr>
            <a:spLocks noGrp="1"/>
          </p:cNvSpPr>
          <p:nvPr/>
        </p:nvSpPr>
        <p:spPr>
          <a:xfrm>
            <a:off x="4205792" y="4821807"/>
            <a:ext cx="4145002" cy="34839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Join listings to dated SKU orders, revenue, margin, inventory and returns. Link service contact reasons, response times and outcomes to product families.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CC84F0C-0D6B-42E5-BBEC-CCBCBB256D19}"/>
              </a:ext>
            </a:extLst>
          </p:cNvPr>
          <p:cNvSpPr>
            <a:spLocks noGrp="1"/>
          </p:cNvSpPr>
          <p:nvPr/>
        </p:nvSpPr>
        <p:spPr>
          <a:xfrm>
            <a:off x="9911800" y="4821807"/>
            <a:ext cx="4145002" cy="398170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Add team roles, skill coverage, hours and staffing cost. Pilot a change in a high-volume category with a baseline; expand only if business improves without harming service or workload.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15CCF37-5EB2-47D5-BAD4-5AF19DBCD3D0}"/>
              </a:ext>
            </a:extLst>
          </p:cNvPr>
          <p:cNvSpPr>
            <a:spLocks noGrp="1"/>
          </p:cNvSpPr>
          <p:nvPr/>
        </p:nvSpPr>
        <p:spPr>
          <a:xfrm flipV="1">
            <a:off x="-170721" y="-496279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0" y="3622789"/>
                </a:moveTo>
                <a:lnTo>
                  <a:pt x="9791322" y="3622789"/>
                </a:lnTo>
                <a:lnTo>
                  <a:pt x="9791322" y="0"/>
                </a:lnTo>
                <a:lnTo>
                  <a:pt x="0" y="0"/>
                </a:lnTo>
                <a:lnTo>
                  <a:pt x="0" y="36227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CCB7176-A16C-4F1C-AD50-83A548455376}"/>
              </a:ext>
            </a:extLst>
          </p:cNvPr>
          <p:cNvSpPr>
            <a:spLocks noGrp="1"/>
          </p:cNvSpPr>
          <p:nvPr/>
        </p:nvSpPr>
        <p:spPr>
          <a:xfrm>
            <a:off x="1437808" y="1792988"/>
            <a:ext cx="15386978" cy="20605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16225"/>
              </a:lnSpc>
              <a:buNone/>
            </a:pPr>
            <a:r>
              <a:rPr sz="11589" b="1">
                <a:solidFill>
                  <a:srgbClr val="683420"/>
                </a:solidFill>
                <a:latin typeface="Cardo Bold"/>
                <a:ea typeface="Cardo Bold"/>
                <a:cs typeface="Cardo Bold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199056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20742A-80B7-4B15-9B48-79C1C440935E}"/>
              </a:ext>
            </a:extLst>
          </p:cNvPr>
          <p:cNvSpPr>
            <a:spLocks noGrp="1"/>
          </p:cNvSpPr>
          <p:nvPr/>
        </p:nvSpPr>
        <p:spPr>
          <a:xfrm flipH="1">
            <a:off x="8708319" y="6988823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9791323" y="0"/>
                </a:moveTo>
                <a:lnTo>
                  <a:pt x="0" y="0"/>
                </a:lnTo>
                <a:lnTo>
                  <a:pt x="0" y="3622789"/>
                </a:lnTo>
                <a:lnTo>
                  <a:pt x="9791323" y="3622789"/>
                </a:lnTo>
                <a:lnTo>
                  <a:pt x="97913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C48E338-AD28-4555-B1E7-EBF7F6C6DAD0}"/>
              </a:ext>
            </a:extLst>
          </p:cNvPr>
          <p:cNvSpPr>
            <a:spLocks noGrp="1"/>
          </p:cNvSpPr>
          <p:nvPr/>
        </p:nvSpPr>
        <p:spPr>
          <a:xfrm flipV="1">
            <a:off x="-150387" y="-322078"/>
            <a:ext cx="9791323" cy="3622789"/>
          </a:xfrm>
          <a:custGeom>
            <a:avLst/>
            <a:gdLst/>
            <a:ahLst/>
            <a:cxnLst/>
            <a:rect l="l" t="t" r="r" b="b"/>
            <a:pathLst>
              <a:path w="9791323" h="3622789">
                <a:moveTo>
                  <a:pt x="0" y="3622789"/>
                </a:moveTo>
                <a:lnTo>
                  <a:pt x="9791322" y="3622789"/>
                </a:lnTo>
                <a:lnTo>
                  <a:pt x="9791322" y="0"/>
                </a:lnTo>
                <a:lnTo>
                  <a:pt x="0" y="0"/>
                </a:lnTo>
                <a:lnTo>
                  <a:pt x="0" y="36227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1FF3852-B92E-40F3-889C-05E35C727943}"/>
              </a:ext>
            </a:extLst>
          </p:cNvPr>
          <p:cNvSpPr>
            <a:spLocks noGrp="1"/>
          </p:cNvSpPr>
          <p:nvPr/>
        </p:nvSpPr>
        <p:spPr>
          <a:xfrm>
            <a:off x="2954839" y="1792988"/>
            <a:ext cx="12352917" cy="20605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6225"/>
              </a:lnSpc>
              <a:buNone/>
            </a:pPr>
            <a:r>
              <a:rPr sz="11589" b="1">
                <a:solidFill>
                  <a:srgbClr val="683420"/>
                </a:solidFill>
                <a:latin typeface="Cardo Bold"/>
                <a:ea typeface="Cardo Bold"/>
                <a:cs typeface="Cardo Bold"/>
              </a:rPr>
              <a:t>Data Quality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AA230D7-309D-4E3F-A13E-35AEE873CA20}"/>
              </a:ext>
            </a:extLst>
          </p:cNvPr>
          <p:cNvSpPr>
            <a:spLocks noGrp="1"/>
          </p:cNvSpPr>
          <p:nvPr/>
        </p:nvSpPr>
        <p:spPr>
          <a:xfrm>
            <a:off x="15589887" y="2245256"/>
            <a:ext cx="1294756" cy="1294756"/>
          </a:xfrm>
          <a:custGeom>
            <a:avLst/>
            <a:gdLst/>
            <a:ahLst/>
            <a:cxnLst/>
            <a:rect l="l" t="t" r="r" b="b"/>
            <a:pathLst>
              <a:path w="1294756" h="1294756">
                <a:moveTo>
                  <a:pt x="0" y="0"/>
                </a:moveTo>
                <a:lnTo>
                  <a:pt x="1294756" y="0"/>
                </a:lnTo>
                <a:lnTo>
                  <a:pt x="1294756" y="1294755"/>
                </a:lnTo>
                <a:lnTo>
                  <a:pt x="0" y="12947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AC33BA8-1F3E-4B00-9983-EE44552432A1}"/>
              </a:ext>
            </a:extLst>
          </p:cNvPr>
          <p:cNvSpPr>
            <a:spLocks noGrp="1"/>
          </p:cNvSpPr>
          <p:nvPr/>
        </p:nvSpPr>
        <p:spPr>
          <a:xfrm rot="-5400000">
            <a:off x="1474377" y="6067901"/>
            <a:ext cx="2009320" cy="1004660"/>
          </a:xfrm>
          <a:custGeom>
            <a:avLst/>
            <a:gdLst/>
            <a:ahLst/>
            <a:cxnLst/>
            <a:rect l="l" t="t" r="r" b="b"/>
            <a:pathLst>
              <a:path w="2009320" h="1004660">
                <a:moveTo>
                  <a:pt x="0" y="0"/>
                </a:moveTo>
                <a:lnTo>
                  <a:pt x="2009320" y="0"/>
                </a:lnTo>
                <a:lnTo>
                  <a:pt x="2009320" y="1004660"/>
                </a:lnTo>
                <a:lnTo>
                  <a:pt x="0" y="1004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5A809DA-8D92-4F3A-9AC0-915CC61D9006}"/>
              </a:ext>
            </a:extLst>
          </p:cNvPr>
          <p:cNvSpPr>
            <a:spLocks noGrp="1"/>
          </p:cNvSpPr>
          <p:nvPr/>
        </p:nvSpPr>
        <p:spPr>
          <a:xfrm rot="-5400000">
            <a:off x="14633508" y="6239819"/>
            <a:ext cx="1912760" cy="564264"/>
          </a:xfrm>
          <a:custGeom>
            <a:avLst/>
            <a:gdLst/>
            <a:ahLst/>
            <a:cxnLst/>
            <a:rect l="l" t="t" r="r" b="b"/>
            <a:pathLst>
              <a:path w="1912760" h="564264">
                <a:moveTo>
                  <a:pt x="0" y="0"/>
                </a:moveTo>
                <a:lnTo>
                  <a:pt x="1912759" y="0"/>
                </a:lnTo>
                <a:lnTo>
                  <a:pt x="1912759" y="564264"/>
                </a:lnTo>
                <a:lnTo>
                  <a:pt x="0" y="564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0571F39-F14C-4F0E-A81A-F82B1420C181}"/>
              </a:ext>
            </a:extLst>
          </p:cNvPr>
          <p:cNvSpPr>
            <a:spLocks noGrp="1"/>
          </p:cNvSpPr>
          <p:nvPr/>
        </p:nvSpPr>
        <p:spPr>
          <a:xfrm>
            <a:off x="4205792" y="4821807"/>
            <a:ext cx="4145002" cy="398170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Converted ₹ prices, discount percentages and review counts to numbers. Replaced one malformed rating (|) with 3.9, following the notebook. Filled two missing review counts with the median.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C36932F-B99A-4C12-8A32-98E696AF9281}"/>
              </a:ext>
            </a:extLst>
          </p:cNvPr>
          <p:cNvSpPr>
            <a:spLocks noGrp="1"/>
          </p:cNvSpPr>
          <p:nvPr/>
        </p:nvSpPr>
        <p:spPr>
          <a:xfrm>
            <a:off x="9911800" y="4821807"/>
            <a:ext cx="4145002" cy="398170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/>
          </a:lstStyle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683420"/>
                </a:solidFill>
                <a:latin typeface="Noto Serif"/>
                <a:ea typeface="Noto Serif"/>
                <a:cs typeface="Noto Serif"/>
              </a:rPr>
              <a:t>1,465 rows; 1,351 distinct IDs; 114 repeated ID occurrences; zero exact duplicate rows. Rolled 211 category strings into top-level groups. No dates, transactions or employee measures are present.</a:t>
            </a:r>
          </a:p>
        </p:txBody>
      </p:sp>
    </p:spTree>
    <p:extLst>
      <p:ext uri="{BB962C8B-B14F-4D97-AF65-F5344CB8AC3E}">
        <p14:creationId xmlns:p14="http://schemas.microsoft.com/office/powerpoint/2010/main" val="1950848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1018</Words>
  <Application>Microsoft Office PowerPoint</Application>
  <DocSecurity>0</DocSecurity>
  <PresentationFormat>Custom</PresentationFormat>
  <Paragraphs>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Arial</vt:lpstr>
      <vt:lpstr>Cardo</vt:lpstr>
      <vt:lpstr>Cardo Bold</vt:lpstr>
      <vt:lpstr>Noto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kunal kumar</cp:lastModifiedBy>
  <cp:revision>1</cp:revision>
  <dcterms:created xsi:type="dcterms:W3CDTF">2026-10-15T07:11:13Z</dcterms:created>
  <dcterms:modified xsi:type="dcterms:W3CDTF">2026-10-15T07:18:36Z</dcterms:modified>
</cp:coreProperties>
</file>